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ABED7E-8E3D-4F3E-9E0C-AA608BD0CA37}">
  <a:tblStyle styleId="{A7ABED7E-8E3D-4F3E-9E0C-AA608BD0CA3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Raleway-regular.fntdata"/><Relationship Id="rId41" Type="http://schemas.openxmlformats.org/officeDocument/2006/relationships/slide" Target="slides/slide35.xml"/><Relationship Id="rId44" Type="http://schemas.openxmlformats.org/officeDocument/2006/relationships/font" Target="fonts/Raleway-italic.fntdata"/><Relationship Id="rId43" Type="http://schemas.openxmlformats.org/officeDocument/2006/relationships/font" Target="fonts/Raleway-bold.fntdata"/><Relationship Id="rId46" Type="http://schemas.openxmlformats.org/officeDocument/2006/relationships/font" Target="fonts/Lato-regular.fntdata"/><Relationship Id="rId45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093bd67b4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e093bd67b4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e093bd67b4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e093bd67b4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e093bd67b4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e093bd67b4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e093bd67b4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e093bd67b4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e093bd67b4_0_3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e093bd67b4_0_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093bd67b4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e093bd67b4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e093bd67b4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e093bd67b4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e093bd67b4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e093bd67b4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e093bd67b4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e093bd67b4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e093bd67b4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e093bd67b4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e093bd67b4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e093bd67b4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e093bd67b4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e093bd67b4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e093bd67b4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e093bd67b4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e093bd67b4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e093bd67b4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e093bd67b4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e093bd67b4_0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e093bd67b4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e093bd67b4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e093bd67b4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e093bd67b4_0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e093bd67b4_0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e093bd67b4_0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e093bd67b4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e093bd67b4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e093bd67b4_0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e093bd67b4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093bd67b4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e093bd67b4_0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e093bd67b4_0_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e093bd67b4_0_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e093bd67b4_0_1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e093bd67b4_0_1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26f95a6bd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126f95a6bd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26f95a6bd3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126f95a6bd3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26f95a6bd3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126f95a6bd3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26f95a6bd3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126f95a6bd3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26f95a6bd3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126f95a6bd3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26f95a6bd3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126f95a6bd3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26f95a6bd3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126f95a6bd3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26f95a6bd3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126f95a6bd3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26f95a6bd3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126f95a6bd3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26f95a6bd3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126f95a6bd3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26f95a6bd3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126f95a6bd3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D9EAD3">
            <a:alpha val="20310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D9EAD3">
            <a:alpha val="43230"/>
          </a:srgbClr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" name="Google Shape;2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830392" y="734056"/>
            <a:ext cx="745763" cy="45826"/>
            <a:chOff x="830392" y="734056"/>
            <a:chExt cx="745763" cy="45826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1366812" y="570539"/>
              <a:ext cx="45826" cy="372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995485" y="568963"/>
              <a:ext cx="45826" cy="37601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5"/>
          <p:cNvGrpSpPr/>
          <p:nvPr/>
        </p:nvGrpSpPr>
        <p:grpSpPr>
          <a:xfrm>
            <a:off x="830392" y="734056"/>
            <a:ext cx="745763" cy="45826"/>
            <a:chOff x="4580561" y="2589004"/>
            <a:chExt cx="1064464" cy="25200"/>
          </a:xfrm>
        </p:grpSpPr>
        <p:sp>
          <p:nvSpPr>
            <p:cNvPr id="37" name="Google Shape;3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9450" y="8614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729325" y="16216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643604" y="16216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5" name="Google Shape;55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3" name="Google Shape;63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0" name="Google Shape;70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1" name="Google Shape;8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0" y="4867593"/>
            <a:ext cx="9144000" cy="271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>
            <p:ph type="title"/>
          </p:nvPr>
        </p:nvSpPr>
        <p:spPr>
          <a:xfrm>
            <a:off x="248574" y="139834"/>
            <a:ext cx="85992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248581" y="1058667"/>
            <a:ext cx="85992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  <a:defRPr sz="2100"/>
            </a:lvl2pPr>
            <a:lvl3pPr indent="-342900" lvl="2" marL="13716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3pPr>
            <a:lvl4pPr indent="-323850" lvl="3" marL="18288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0" type="dt"/>
          </p:nvPr>
        </p:nvSpPr>
        <p:spPr>
          <a:xfrm>
            <a:off x="177067" y="48675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3" name="Google Shape;93;p13"/>
          <p:cNvSpPr txBox="1"/>
          <p:nvPr>
            <p:ph idx="11" type="ftr"/>
          </p:nvPr>
        </p:nvSpPr>
        <p:spPr>
          <a:xfrm>
            <a:off x="1731145" y="4869666"/>
            <a:ext cx="641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293436" y="4867593"/>
            <a:ext cx="706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0" y="857107"/>
            <a:ext cx="9144000" cy="79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0" y="857107"/>
            <a:ext cx="248700" cy="798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>
  <p:cSld name="Duas Partes de Conteúd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857107"/>
            <a:ext cx="9144000" cy="79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4867593"/>
            <a:ext cx="9144000" cy="271800"/>
          </a:xfrm>
          <a:prstGeom prst="rect">
            <a:avLst/>
          </a:prstGeom>
          <a:solidFill>
            <a:srgbClr val="8DC63F"/>
          </a:solidFill>
          <a:ln cap="flat" cmpd="sng" w="12700">
            <a:solidFill>
              <a:srgbClr val="8DC6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248574" y="1171870"/>
            <a:ext cx="42663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629150" y="1171870"/>
            <a:ext cx="4218600" cy="3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14"/>
          <p:cNvSpPr/>
          <p:nvPr/>
        </p:nvSpPr>
        <p:spPr>
          <a:xfrm>
            <a:off x="0" y="857107"/>
            <a:ext cx="248700" cy="798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248574" y="139834"/>
            <a:ext cx="85992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0" type="dt"/>
          </p:nvPr>
        </p:nvSpPr>
        <p:spPr>
          <a:xfrm>
            <a:off x="177067" y="4867594"/>
            <a:ext cx="1377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5" name="Google Shape;105;p14"/>
          <p:cNvSpPr txBox="1"/>
          <p:nvPr>
            <p:ph idx="11" type="ftr"/>
          </p:nvPr>
        </p:nvSpPr>
        <p:spPr>
          <a:xfrm>
            <a:off x="1731145" y="4869666"/>
            <a:ext cx="641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" name="Google Shape;106;p14"/>
          <p:cNvSpPr txBox="1"/>
          <p:nvPr>
            <p:ph idx="12" type="sldNum"/>
          </p:nvPr>
        </p:nvSpPr>
        <p:spPr>
          <a:xfrm>
            <a:off x="8293436" y="4867593"/>
            <a:ext cx="706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w3schools.com/colors/colors_names.asp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>
            <a:alpha val="43230"/>
          </a:srgbClr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Web Design</a:t>
            </a:r>
            <a:endParaRPr/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Introdução ao CSS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CSS</a:t>
            </a:r>
            <a:endParaRPr/>
          </a:p>
        </p:txBody>
      </p:sp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CSS é a linguagem utilizada para modificar o estilo de uma página HTML;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Com o CSS pode-se alterar o estilo, tamanho e cor do texto, modificar a cor da página, definir tamanhos, espaçamentos etc;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Também é possível adaptar o layout de uma página de acordo com o tamanho da tela em que está sendo exibida;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HTML deve ser utilizado apenas para marcação de conteúdo, não para estilização;</a:t>
            </a:r>
            <a:endParaRPr/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1600"/>
              </a:spcAft>
              <a:buNone/>
            </a:pPr>
            <a:r>
              <a:rPr lang="pt-BR"/>
              <a:t>Com o CSS é possível separar tudo que é marcação de conteúdo do que é estilização.</a:t>
            </a:r>
            <a:endParaRPr/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do Projeto Web com CSS</a:t>
            </a:r>
            <a:endParaRPr/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6" name="Google Shape;12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1413" y="2285788"/>
            <a:ext cx="2000250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/>
          <p:nvPr/>
        </p:nvSpPr>
        <p:spPr>
          <a:xfrm>
            <a:off x="6966175" y="2571750"/>
            <a:ext cx="828000" cy="535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6160" y="795925"/>
            <a:ext cx="1130775" cy="9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7601600" y="1864000"/>
            <a:ext cx="279900" cy="302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9ED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2700" lvl="0" marL="16510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Estrutura do Projeto Web com CSS</a:t>
            </a:r>
            <a:endParaRPr/>
          </a:p>
        </p:txBody>
      </p:sp>
      <p:sp>
        <p:nvSpPr>
          <p:cNvPr id="136" name="Google Shape;136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9257" y="1534269"/>
            <a:ext cx="2743303" cy="345770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p  {</a:t>
            </a:r>
            <a:endParaRPr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color:red; </a:t>
            </a:r>
            <a:endParaRPr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font-size: 10px;</a:t>
            </a:r>
            <a:endParaRPr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43" name="Google Shape;143;p1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Sintaxe do CSS</a:t>
            </a:r>
            <a:endParaRPr/>
          </a:p>
        </p:txBody>
      </p:sp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p{</a:t>
            </a:r>
            <a:endParaRPr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color:red; </a:t>
            </a:r>
            <a:endParaRPr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font-size: 10px;</a:t>
            </a:r>
            <a:endParaRPr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50" name="Google Shape;150;p2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Sintaxe do CSS</a:t>
            </a:r>
            <a:endParaRPr/>
          </a:p>
        </p:txBody>
      </p:sp>
      <p:sp>
        <p:nvSpPr>
          <p:cNvPr id="151" name="Google Shape;151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327275" y="2340647"/>
            <a:ext cx="123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pt-BR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eletor</a:t>
            </a:r>
            <a:endParaRPr sz="600"/>
          </a:p>
        </p:txBody>
      </p:sp>
      <p:sp>
        <p:nvSpPr>
          <p:cNvPr id="153" name="Google Shape;153;p20"/>
          <p:cNvSpPr/>
          <p:nvPr/>
        </p:nvSpPr>
        <p:spPr>
          <a:xfrm rot="5400000">
            <a:off x="688876" y="2712300"/>
            <a:ext cx="339300" cy="3630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 rot="5400000">
            <a:off x="1663391" y="2653237"/>
            <a:ext cx="359700" cy="12549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1119350" y="2608550"/>
            <a:ext cx="14478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7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Propriedade</a:t>
            </a:r>
            <a:endParaRPr sz="1100"/>
          </a:p>
        </p:txBody>
      </p:sp>
      <p:sp>
        <p:nvSpPr>
          <p:cNvPr id="156" name="Google Shape;156;p20"/>
          <p:cNvSpPr/>
          <p:nvPr/>
        </p:nvSpPr>
        <p:spPr>
          <a:xfrm flipH="1" rot="5400000">
            <a:off x="2154224" y="3155625"/>
            <a:ext cx="303900" cy="20838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3528275" y="4514427"/>
            <a:ext cx="12324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9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Valor</a:t>
            </a:r>
            <a:endParaRPr sz="300"/>
          </a:p>
        </p:txBody>
      </p:sp>
      <p:sp>
        <p:nvSpPr>
          <p:cNvPr id="158" name="Google Shape;158;p20"/>
          <p:cNvSpPr/>
          <p:nvPr/>
        </p:nvSpPr>
        <p:spPr>
          <a:xfrm rot="5400000">
            <a:off x="2710247" y="2957874"/>
            <a:ext cx="394200" cy="6801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1825399" y="4391875"/>
            <a:ext cx="13644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7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Propriedade</a:t>
            </a:r>
            <a:endParaRPr sz="1100"/>
          </a:p>
        </p:txBody>
      </p:sp>
      <p:sp>
        <p:nvSpPr>
          <p:cNvPr id="160" name="Google Shape;160;p20"/>
          <p:cNvSpPr/>
          <p:nvPr/>
        </p:nvSpPr>
        <p:spPr>
          <a:xfrm flipH="1" rot="5400000">
            <a:off x="3964637" y="3783089"/>
            <a:ext cx="359700" cy="10698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2300985" y="2772175"/>
            <a:ext cx="12324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9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Valor</a:t>
            </a:r>
            <a:endParaRPr sz="300"/>
          </a:p>
        </p:txBody>
      </p:sp>
      <p:sp>
        <p:nvSpPr>
          <p:cNvPr id="162" name="Google Shape;162;p20"/>
          <p:cNvSpPr txBox="1"/>
          <p:nvPr/>
        </p:nvSpPr>
        <p:spPr>
          <a:xfrm>
            <a:off x="4910025" y="1301800"/>
            <a:ext cx="3870000" cy="12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Seletor</a:t>
            </a: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elemento do HTML que será aplicado uma estilização;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7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Propriedade e valor</a:t>
            </a: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especifica o que se deseja alterar no elemento HTML.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Ligação entre CSS e HTML</a:t>
            </a:r>
            <a:endParaRPr/>
          </a:p>
        </p:txBody>
      </p:sp>
      <p:pic>
        <p:nvPicPr>
          <p:cNvPr id="168" name="Google Shape;168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1176"/>
          <a:stretch/>
        </p:blipFill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2164950" y="3005875"/>
            <a:ext cx="6253200" cy="35970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Seletores CSS</a:t>
            </a:r>
            <a:endParaRPr/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Existem três formas de se trabalhar com seletores no CSS: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Elemento;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Id;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Classe.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77" name="Google Shape;17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Seletores CSS</a:t>
            </a:r>
            <a:endParaRPr/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Elemento: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Seleciona o elemento baseado em sua tag: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3300"/>
              <a:buNone/>
            </a:pPr>
            <a:r>
              <a:rPr b="1" lang="pt-BR" sz="3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	color: red;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	font-size: 10px;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Seletores CSS</a:t>
            </a:r>
            <a:endParaRPr/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Elemento: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Seleciona o elemento baseado em sua tag: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3300"/>
              <a:buNone/>
            </a:pPr>
            <a:r>
              <a:rPr b="1" lang="pt-BR" sz="3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p, h1</a:t>
            </a: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	color: red;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	font-size: 10px;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91" name="Google Shape;191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Seletores CSS</a:t>
            </a:r>
            <a:endParaRPr/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ID: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Todos os elementos HTML possuem um atributo ID;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O ID serve para identificar o elemento como único, logo não pode existir mais de um ID com o mesmo valor.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98" name="Google Shape;198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Seletores CSS</a:t>
            </a:r>
            <a:endParaRPr/>
          </a:p>
        </p:txBody>
      </p:sp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ID: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05" name="Google Shape;205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6" name="Google Shape;2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198" y="1579881"/>
            <a:ext cx="7893844" cy="2793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Seletores CSS</a:t>
            </a:r>
            <a:endParaRPr/>
          </a:p>
        </p:txBody>
      </p:sp>
      <p:sp>
        <p:nvSpPr>
          <p:cNvPr id="212" name="Google Shape;212;p2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ID: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13" name="Google Shape;213;p27"/>
          <p:cNvSpPr txBox="1"/>
          <p:nvPr>
            <p:ph idx="10" type="dt"/>
          </p:nvPr>
        </p:nvSpPr>
        <p:spPr>
          <a:xfrm>
            <a:off x="132800" y="3650695"/>
            <a:ext cx="10329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28/02/2020</a:t>
            </a:r>
            <a:endParaRPr/>
          </a:p>
        </p:txBody>
      </p:sp>
      <p:sp>
        <p:nvSpPr>
          <p:cNvPr id="214" name="Google Shape;214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5" name="Google Shape;2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479" y="1491002"/>
            <a:ext cx="7965281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7"/>
          <p:cNvSpPr/>
          <p:nvPr/>
        </p:nvSpPr>
        <p:spPr>
          <a:xfrm>
            <a:off x="565479" y="1479760"/>
            <a:ext cx="2470200" cy="274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579512" y="2759668"/>
            <a:ext cx="2470200" cy="274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Seletores CSS</a:t>
            </a:r>
            <a:endParaRPr/>
          </a:p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89"/>
              <a:t>ID:</a:t>
            </a:r>
            <a:endParaRPr sz="2689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t/>
            </a:r>
            <a:endParaRPr b="1" sz="33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3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#paragrafo-1</a:t>
            </a: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	color: red;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	font-size: 10px;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pt-BR" sz="3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#paragrafo-2</a:t>
            </a: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	color: blue;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	font-size: 14px;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508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t/>
            </a:r>
            <a:endParaRPr/>
          </a:p>
          <a:p>
            <a:pPr indent="-508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90909"/>
              <a:buNone/>
            </a:pPr>
            <a:r>
              <a:t/>
            </a:r>
            <a:endParaRPr/>
          </a:p>
          <a:p>
            <a:pPr indent="-508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ct val="190909"/>
              <a:buNone/>
            </a:pPr>
            <a:r>
              <a:t/>
            </a:r>
            <a:endParaRPr/>
          </a:p>
        </p:txBody>
      </p:sp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Seletores CSS</a:t>
            </a:r>
            <a:endParaRPr/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Classe: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Todos os elementos do HTML possuem um atributo class;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Identifica elementos que fazem parte de um mesmo grupo, ou seja, existe a necessidade de estilizar um conjunto de elementos.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Seletores CSS</a:t>
            </a:r>
            <a:endParaRPr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Classe:</a:t>
            </a:r>
            <a:endParaRPr/>
          </a:p>
        </p:txBody>
      </p:sp>
      <p:sp>
        <p:nvSpPr>
          <p:cNvPr id="238" name="Google Shape;238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9" name="Google Shape;2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327" y="1514533"/>
            <a:ext cx="7640964" cy="3234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Seletores CSS</a:t>
            </a:r>
            <a:endParaRPr/>
          </a:p>
        </p:txBody>
      </p:sp>
      <p:sp>
        <p:nvSpPr>
          <p:cNvPr id="245" name="Google Shape;245;p3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Classe:</a:t>
            </a:r>
            <a:endParaRPr/>
          </a:p>
        </p:txBody>
      </p:sp>
      <p:sp>
        <p:nvSpPr>
          <p:cNvPr id="246" name="Google Shape;246;p31"/>
          <p:cNvSpPr txBox="1"/>
          <p:nvPr>
            <p:ph idx="10" type="dt"/>
          </p:nvPr>
        </p:nvSpPr>
        <p:spPr>
          <a:xfrm>
            <a:off x="132800" y="3650695"/>
            <a:ext cx="10329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28/02/2020</a:t>
            </a:r>
            <a:endParaRPr/>
          </a:p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8" name="Google Shape;248;p31"/>
          <p:cNvPicPr preferRelativeResize="0"/>
          <p:nvPr/>
        </p:nvPicPr>
        <p:blipFill rotWithShape="1">
          <a:blip r:embed="rId3">
            <a:alphaModFix/>
          </a:blip>
          <a:srcRect b="0" l="0" r="17464" t="0"/>
          <a:stretch/>
        </p:blipFill>
        <p:spPr>
          <a:xfrm>
            <a:off x="645313" y="1398196"/>
            <a:ext cx="7853376" cy="33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/>
          <p:nvPr/>
        </p:nvSpPr>
        <p:spPr>
          <a:xfrm>
            <a:off x="989350" y="1398196"/>
            <a:ext cx="1383000" cy="220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1"/>
          <p:cNvSpPr/>
          <p:nvPr/>
        </p:nvSpPr>
        <p:spPr>
          <a:xfrm>
            <a:off x="989350" y="2046014"/>
            <a:ext cx="1383000" cy="220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1"/>
          <p:cNvSpPr/>
          <p:nvPr/>
        </p:nvSpPr>
        <p:spPr>
          <a:xfrm>
            <a:off x="989350" y="4511727"/>
            <a:ext cx="1383000" cy="220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Seletores CSS</a:t>
            </a:r>
            <a:endParaRPr/>
          </a:p>
        </p:txBody>
      </p:sp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t/>
            </a:r>
            <a:endParaRPr b="1" sz="33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3300"/>
              <a:buNone/>
            </a:pPr>
            <a:r>
              <a:rPr b="1" lang="pt-BR" sz="3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.centro</a:t>
            </a: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	text-align: center;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pt-BR" sz="33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58" name="Google Shape;258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Cores</a:t>
            </a:r>
            <a:endParaRPr/>
          </a:p>
        </p:txBody>
      </p:sp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cores basicamente podem ser aplicadas ao texto e ao fundo de um elemento;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Background Color: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Com esta propriedade é possível definir uma cor de fundo para qualquer elemento.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1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latin typeface="Courier New"/>
                <a:ea typeface="Courier New"/>
                <a:cs typeface="Courier New"/>
                <a:sym typeface="Courier New"/>
              </a:rPr>
              <a:t>h1{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8001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pt-BR" sz="2400">
                <a:latin typeface="Courier New"/>
                <a:ea typeface="Courier New"/>
                <a:cs typeface="Courier New"/>
                <a:sym typeface="Courier New"/>
              </a:rPr>
              <a:t>: red;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Cores</a:t>
            </a:r>
            <a:endParaRPr/>
          </a:p>
        </p:txBody>
      </p:sp>
      <p:sp>
        <p:nvSpPr>
          <p:cNvPr id="271" name="Google Shape;271;p3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cores podem ser definidas pelo seu nome ou por códigos: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72" name="Google Shape;272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73" name="Google Shape;273;p34"/>
          <p:cNvGraphicFramePr/>
          <p:nvPr/>
        </p:nvGraphicFramePr>
        <p:xfrm>
          <a:off x="1437421" y="21676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{A7ABED7E-8E3D-4F3E-9E0C-AA608BD0CA37}</a:tableStyleId>
              </a:tblPr>
              <a:tblGrid>
                <a:gridCol w="1524000"/>
                <a:gridCol w="1524000"/>
                <a:gridCol w="1649400"/>
                <a:gridCol w="152400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 u="none" cap="none" strike="noStrike"/>
                        <a:t>Cor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 u="none" cap="none" strike="noStrike"/>
                        <a:t>Nome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 u="none" cap="none" strike="noStrike"/>
                        <a:t>Valor Hexadecimal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 u="none" cap="none" strike="noStrike"/>
                        <a:t>Valor RGB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/>
                        <a:t>red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/>
                        <a:t>#FF0000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/>
                        <a:t>255,0,0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/>
                        <a:t>yellow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/>
                        <a:t>#FFFF00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/>
                        <a:t>255,255,0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/>
                        <a:t>white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/>
                        <a:t>#FFFFFF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/>
                        <a:t>255,255,255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green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/>
                        <a:t>#00</a:t>
                      </a:r>
                      <a:r>
                        <a:rPr lang="pt-BR"/>
                        <a:t>FF</a:t>
                      </a:r>
                      <a:r>
                        <a:rPr lang="pt-BR" sz="1400"/>
                        <a:t>00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/>
                        <a:t>0,</a:t>
                      </a:r>
                      <a:r>
                        <a:rPr lang="pt-BR"/>
                        <a:t>255</a:t>
                      </a:r>
                      <a:r>
                        <a:rPr lang="pt-BR" sz="1400"/>
                        <a:t>,</a:t>
                      </a:r>
                      <a:r>
                        <a:rPr lang="pt-BR" sz="1400"/>
                        <a:t>0</a:t>
                      </a:r>
                      <a:endParaRPr sz="11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Cores</a:t>
            </a:r>
            <a:endParaRPr/>
          </a:p>
        </p:txBody>
      </p:sp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Nome:</a:t>
            </a:r>
            <a:endParaRPr/>
          </a:p>
          <a:p>
            <a:pPr indent="0" lvl="1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latin typeface="Courier New"/>
                <a:ea typeface="Courier New"/>
                <a:cs typeface="Courier New"/>
                <a:sym typeface="Courier New"/>
              </a:rPr>
              <a:t>h1 {background-color: red;}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Valor Hexadecimal: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h1 {background-color: 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#FF0000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Valor RGB: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h1 {background-color: 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rgb(255, 0, 0)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;}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0" name="Google Shape;280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Cores</a:t>
            </a:r>
            <a:endParaRPr/>
          </a:p>
        </p:txBody>
      </p:sp>
      <p:sp>
        <p:nvSpPr>
          <p:cNvPr id="286" name="Google Shape;286;p3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Consultar cores:</a:t>
            </a:r>
            <a:endParaRPr/>
          </a:p>
          <a:p>
            <a:pPr indent="0" lvl="1" marL="342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https://www.w3schools.com/colors/colors_names.asp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7" name="Google Shape;287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Cores</a:t>
            </a:r>
            <a:endParaRPr/>
          </a:p>
        </p:txBody>
      </p:sp>
      <p:sp>
        <p:nvSpPr>
          <p:cNvPr id="293" name="Google Shape;293;p3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Cor do texto: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h1 {</a:t>
            </a:r>
            <a:r>
              <a:rPr b="1" lang="pt-BR">
                <a:latin typeface="Courier New"/>
                <a:ea typeface="Courier New"/>
                <a:cs typeface="Courier New"/>
                <a:sym typeface="Courier New"/>
              </a:rPr>
              <a:t>color: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 red;}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4" name="Google Shape;294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Alinhamento do Texto</a:t>
            </a:r>
            <a:endParaRPr/>
          </a:p>
        </p:txBody>
      </p:sp>
      <p:sp>
        <p:nvSpPr>
          <p:cNvPr id="300" name="Google Shape;300;p3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propriedade  text-align para definir o alinhamento do texto quanto a sua posição horizontal: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Alinhado a esquerda: 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 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text-align: left;</a:t>
            </a:r>
            <a:endParaRPr/>
          </a:p>
          <a:p>
            <a:pPr indent="-63500" lvl="2" marL="850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Alinhamento centralizado: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text-align: center;</a:t>
            </a:r>
            <a:endParaRPr/>
          </a:p>
          <a:p>
            <a:pPr indent="-63500" lvl="2" marL="850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Alinhamento a direita: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text-align: right;</a:t>
            </a:r>
            <a:endParaRPr/>
          </a:p>
          <a:p>
            <a:pPr indent="-63500" lvl="2" marL="850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Alinhamento justificado: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Text-align: justify.</a:t>
            </a:r>
            <a:endParaRPr/>
          </a:p>
        </p:txBody>
      </p:sp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4773215" y="2571750"/>
            <a:ext cx="3873600" cy="116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h1{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pt-BR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text-align: center;</a:t>
            </a:r>
            <a:endParaRPr b="1"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Formatação de Texto</a:t>
            </a:r>
            <a:endParaRPr/>
          </a:p>
        </p:txBody>
      </p:sp>
      <p:sp>
        <p:nvSpPr>
          <p:cNvPr id="308" name="Google Shape;308;p3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65100" lvl="0" marL="165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Duas propriedades de formatação de texto já foram vistas:</a:t>
            </a:r>
            <a:endParaRPr/>
          </a:p>
          <a:p>
            <a:pPr indent="-17145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pt-BR"/>
              <a:t>color;</a:t>
            </a:r>
            <a:endParaRPr/>
          </a:p>
          <a:p>
            <a:pPr indent="-17145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pt-BR"/>
              <a:t>text-align.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65100" lvl="0" marL="1651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/>
              <a:t>Decoração do texto:</a:t>
            </a:r>
            <a:endParaRPr/>
          </a:p>
          <a:p>
            <a:pPr indent="-17145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pt-BR"/>
              <a:t>Para alterar a decoração do texto, utiliza-se a propriedade </a:t>
            </a:r>
            <a:r>
              <a:rPr b="1" lang="pt-BR"/>
              <a:t>text-decoration</a:t>
            </a:r>
            <a:r>
              <a:rPr lang="pt-BR"/>
              <a:t>:</a:t>
            </a:r>
            <a:endParaRPr/>
          </a:p>
          <a:p>
            <a:pPr indent="-1651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pt-BR"/>
              <a:t>Overline: decoração acima do texto;</a:t>
            </a:r>
            <a:endParaRPr/>
          </a:p>
          <a:p>
            <a:pPr indent="-1651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pt-BR"/>
              <a:t>Underline: decoração abaixo do texto;</a:t>
            </a:r>
            <a:endParaRPr/>
          </a:p>
          <a:p>
            <a:pPr indent="-1651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pt-BR"/>
              <a:t>Line-through: decoração através do texto;</a:t>
            </a:r>
            <a:endParaRPr/>
          </a:p>
          <a:p>
            <a:pPr indent="-1651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</a:pPr>
            <a:r>
              <a:rPr lang="pt-BR"/>
              <a:t>None: sem decoração.</a:t>
            </a:r>
            <a:endParaRPr/>
          </a:p>
        </p:txBody>
      </p:sp>
      <p:sp>
        <p:nvSpPr>
          <p:cNvPr id="309" name="Google Shape;309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Formatação de Texto</a:t>
            </a:r>
            <a:endParaRPr/>
          </a:p>
        </p:txBody>
      </p:sp>
      <p:sp>
        <p:nvSpPr>
          <p:cNvPr id="315" name="Google Shape;315;p40"/>
          <p:cNvSpPr txBox="1"/>
          <p:nvPr>
            <p:ph idx="1" type="body"/>
          </p:nvPr>
        </p:nvSpPr>
        <p:spPr>
          <a:xfrm>
            <a:off x="346675" y="1621675"/>
            <a:ext cx="8071500" cy="3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/>
              <a:t>Decoração do texto</a:t>
            </a:r>
            <a:endParaRPr b="1"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Para alterar a decoração do texto, utiliza-se a propriedade </a:t>
            </a:r>
            <a:r>
              <a:rPr b="1" lang="pt-BR"/>
              <a:t>text-decoration</a:t>
            </a:r>
            <a:r>
              <a:rPr lang="pt-BR"/>
              <a:t>:</a:t>
            </a:r>
            <a:endParaRPr/>
          </a:p>
          <a:p>
            <a:pPr indent="0" lvl="0" marL="9144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Underline: decoração abaixo do texto;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Overline: decoração acima do texto;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Line-through: decoração através do texto;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None: sem decoração.</a:t>
            </a:r>
            <a:endParaRPr/>
          </a:p>
        </p:txBody>
      </p:sp>
      <p:pic>
        <p:nvPicPr>
          <p:cNvPr id="316" name="Google Shape;31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4109" y="2562050"/>
            <a:ext cx="1235869" cy="41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4109" y="3193950"/>
            <a:ext cx="1185863" cy="39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36965" y="3894521"/>
            <a:ext cx="1193006" cy="357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06885" y="2630100"/>
            <a:ext cx="3721894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06885" y="3279675"/>
            <a:ext cx="3579019" cy="307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06885" y="3930239"/>
            <a:ext cx="4079081" cy="32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86971" y="4450448"/>
            <a:ext cx="1193006" cy="364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06885" y="4434656"/>
            <a:ext cx="3064669" cy="30718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Formatação de Texto</a:t>
            </a:r>
            <a:endParaRPr/>
          </a:p>
        </p:txBody>
      </p:sp>
      <p:sp>
        <p:nvSpPr>
          <p:cNvPr id="330" name="Google Shape;330;p4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Transformação de texto: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Letras maiúsculas: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Letras minúsculas: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Letras iniciais de todas as palavras em maiúsculo:</a:t>
            </a:r>
            <a:endParaRPr/>
          </a:p>
          <a:p>
            <a:pPr indent="-508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31" name="Google Shape;33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514" y="2351054"/>
            <a:ext cx="3707606" cy="32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579" y="3074297"/>
            <a:ext cx="3721894" cy="27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5579" y="3760983"/>
            <a:ext cx="3857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42438" y="3871987"/>
            <a:ext cx="2286000" cy="32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42438" y="3153038"/>
            <a:ext cx="2135981" cy="27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42438" y="2365811"/>
            <a:ext cx="3221831" cy="30718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Formatação de Texto</a:t>
            </a:r>
            <a:endParaRPr/>
          </a:p>
        </p:txBody>
      </p:sp>
      <p:sp>
        <p:nvSpPr>
          <p:cNvPr id="343" name="Google Shape;343;p4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Indentação: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recuo da primeira linha do parágrafo;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Propriedade </a:t>
            </a:r>
            <a:r>
              <a:rPr b="1" lang="pt-BR"/>
              <a:t>text-indent</a:t>
            </a:r>
            <a:r>
              <a:rPr lang="pt-BR"/>
              <a:t>:</a:t>
            </a:r>
            <a:endParaRPr/>
          </a:p>
          <a:p>
            <a:pPr indent="-508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44" name="Google Shape;34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8898" y="2472304"/>
            <a:ext cx="5058542" cy="22768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5" name="Google Shape;34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497" y="3471415"/>
            <a:ext cx="2771775" cy="27860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Fontes</a:t>
            </a:r>
            <a:endParaRPr/>
          </a:p>
        </p:txBody>
      </p:sp>
      <p:sp>
        <p:nvSpPr>
          <p:cNvPr id="352" name="Google Shape;352;p4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CSS também permite trabalhar a estilização de fonte, desde seu tamanho, até qual tipo ou família se quer usar;</a:t>
            </a:r>
            <a:endParaRPr/>
          </a:p>
          <a:p>
            <a:pPr indent="-12700" lvl="0" marL="1651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/>
              <a:t>Família das fontes:</a:t>
            </a:r>
            <a:endParaRPr/>
          </a:p>
          <a:p>
            <a:pPr indent="0" lvl="0" marL="4572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As fontes podem ser classificadas em um grupo genérico de famílias:</a:t>
            </a:r>
            <a:endParaRPr/>
          </a:p>
          <a:p>
            <a:pPr indent="0" lvl="0" marL="9144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Fontes serifadas;</a:t>
            </a:r>
            <a:endParaRPr/>
          </a:p>
          <a:p>
            <a:pPr indent="0" lvl="0" marL="9144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Fontes sem serifas;</a:t>
            </a:r>
            <a:endParaRPr/>
          </a:p>
          <a:p>
            <a:pPr indent="0" lvl="0" marL="914400" rtl="0" algn="just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rPr lang="pt-BR"/>
              <a:t>Fontes monoespaçadas.</a:t>
            </a:r>
            <a:endParaRPr/>
          </a:p>
        </p:txBody>
      </p:sp>
      <p:sp>
        <p:nvSpPr>
          <p:cNvPr id="353" name="Google Shape;353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Fontes</a:t>
            </a:r>
            <a:endParaRPr/>
          </a:p>
        </p:txBody>
      </p:sp>
      <p:sp>
        <p:nvSpPr>
          <p:cNvPr id="359" name="Google Shape;359;p4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Família das fontes:</a:t>
            </a:r>
            <a:endParaRPr/>
          </a:p>
          <a:p>
            <a:pPr indent="0" lvl="0" marL="457200" rtl="0" algn="just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Fonte serifada - fontes que contém um pequeno traço no final de cada letra:</a:t>
            </a:r>
            <a:endParaRPr/>
          </a:p>
          <a:p>
            <a:pPr indent="-508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60" name="Google Shape;36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4329" y="2433027"/>
            <a:ext cx="3507581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Fontes</a:t>
            </a:r>
            <a:endParaRPr/>
          </a:p>
        </p:txBody>
      </p:sp>
      <p:sp>
        <p:nvSpPr>
          <p:cNvPr id="367" name="Google Shape;367;p45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Família das fontes:</a:t>
            </a:r>
            <a:endParaRPr/>
          </a:p>
          <a:p>
            <a:pPr indent="0" lvl="0" marL="457200" rtl="0" algn="just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Fonte sem serifa - fontes que não possuem serifa:</a:t>
            </a:r>
            <a:endParaRPr/>
          </a:p>
          <a:p>
            <a:pPr indent="-508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68" name="Google Shape;368;p45"/>
          <p:cNvSpPr txBox="1"/>
          <p:nvPr/>
        </p:nvSpPr>
        <p:spPr>
          <a:xfrm>
            <a:off x="1566473" y="2304738"/>
            <a:ext cx="574500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Sem Serifa</a:t>
            </a:r>
            <a:endParaRPr b="0" i="0" sz="86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Fontes</a:t>
            </a:r>
            <a:endParaRPr/>
          </a:p>
        </p:txBody>
      </p:sp>
      <p:sp>
        <p:nvSpPr>
          <p:cNvPr id="375" name="Google Shape;375;p4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Família das fontes: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Fonte monoespaçada - fontes que ocupam o mesmo espaço horizontal:</a:t>
            </a:r>
            <a:endParaRPr/>
          </a:p>
          <a:p>
            <a:pPr indent="-508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76" name="Google Shape;376;p46"/>
          <p:cNvSpPr txBox="1"/>
          <p:nvPr/>
        </p:nvSpPr>
        <p:spPr>
          <a:xfrm>
            <a:off x="764499" y="2282252"/>
            <a:ext cx="7858500" cy="1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Monoespaçada</a:t>
            </a:r>
            <a:endParaRPr b="0" i="0" sz="8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7" name="Google Shape;377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Fontes</a:t>
            </a:r>
            <a:endParaRPr/>
          </a:p>
        </p:txBody>
      </p:sp>
      <p:sp>
        <p:nvSpPr>
          <p:cNvPr id="383" name="Google Shape;383;p4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Família das fontes: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Para que uma fonte possa ser utilizada é necessário que ela esteja instalada no computador que vai abrir o texto;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Como não dá para garantir que todos os computadores possuam determinada fonte, o CSS permite que um conjunto de fontes sejam definidas para suprir este problema.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508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84" name="Google Shape;384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Fontes</a:t>
            </a:r>
            <a:endParaRPr/>
          </a:p>
        </p:txBody>
      </p:sp>
      <p:sp>
        <p:nvSpPr>
          <p:cNvPr id="390" name="Google Shape;390;p4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Família das fontes: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A propriedade utilizada para modificar a família de fontes é a </a:t>
            </a:r>
            <a:r>
              <a:rPr b="1" lang="pt-BR"/>
              <a:t>font-Family</a:t>
            </a:r>
            <a:r>
              <a:rPr lang="pt-BR"/>
              <a:t>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508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91" name="Google Shape;39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663" y="2593454"/>
            <a:ext cx="7123039" cy="359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663" y="3226697"/>
            <a:ext cx="7077293" cy="35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/>
              <a:t>Fontes</a:t>
            </a:r>
            <a:endParaRPr/>
          </a:p>
        </p:txBody>
      </p:sp>
      <p:sp>
        <p:nvSpPr>
          <p:cNvPr id="399" name="Google Shape;399;p4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Tamanho da fonte:</a:t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Propriedade </a:t>
            </a:r>
            <a:r>
              <a:rPr b="1" lang="pt-BR"/>
              <a:t>font-size</a:t>
            </a:r>
            <a:r>
              <a:rPr lang="pt-BR"/>
              <a:t>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Pixel:</a:t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1" marL="50800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50800" lvl="2" marL="850900" rtl="0" algn="just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400" name="Google Shape;40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990" y="3262757"/>
            <a:ext cx="4083396" cy="570797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