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2f3c06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f2f3c06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2f3c0613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f2f3c061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2f3c0613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f2f3c0613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2f3c061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2f3c061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2f3c0613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2f3c061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f2f3c0613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f2f3c0613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2f3c0613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2f3c0613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2f3c0613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2f3c0613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2f3c0613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f2f3c0613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f2f3c061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f2f3c061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2f3c0613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2f3c0613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2f3c061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2f3c061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2f3c0613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2f3c061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f2f3c0613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f2f3c0613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2f3c0613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2f3c0613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2f3c061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2f3c061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2f3c0613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f2f3c061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2f3c06139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1f2f3c06139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2f3c06139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1f2f3c06139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f2f3c06139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f2f3c06139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2f3c06139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1f2f3c06139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f2f3c0613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f2f3c0613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248581" y="1058667"/>
            <a:ext cx="8599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48574" y="1171870"/>
            <a:ext cx="42663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629150" y="1171870"/>
            <a:ext cx="4218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ifrn.edu.br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exemplo.com/imagens/imagem.jp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mozilla.org/pt-BR/docs/Learn/HTML/Introduction_to_HTML/Creating_hyperlin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Imagem, tabela e links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Atributos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atributos fornecem informações adicionais aos elementos;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Cada elemento possui o seu conjunto de atributos que podem ser definidos ao mesmo tempo.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262" y="3468409"/>
            <a:ext cx="749617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Atributos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atributos fornecem informações adicionais aos elementos;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087" y="3076759"/>
            <a:ext cx="74961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 rot="-5400000">
            <a:off x="4749340" y="-24908"/>
            <a:ext cx="779400" cy="7496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314640" y="4200116"/>
            <a:ext cx="16488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elemento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434725" y="2498000"/>
            <a:ext cx="1648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 rot="5400000">
            <a:off x="4141655" y="1988741"/>
            <a:ext cx="375300" cy="2016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504888" y="2498000"/>
            <a:ext cx="1648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atributo</a:t>
            </a:r>
            <a:endParaRPr sz="1000"/>
          </a:p>
        </p:txBody>
      </p:sp>
      <p:sp>
        <p:nvSpPr>
          <p:cNvPr id="134" name="Google Shape;134;p17"/>
          <p:cNvSpPr/>
          <p:nvPr/>
        </p:nvSpPr>
        <p:spPr>
          <a:xfrm rot="5400000">
            <a:off x="6677705" y="1988757"/>
            <a:ext cx="375300" cy="2016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537999" y="2502404"/>
            <a:ext cx="2654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Valor do atributo</a:t>
            </a:r>
            <a:endParaRPr sz="1000"/>
          </a:p>
        </p:txBody>
      </p:sp>
      <p:sp>
        <p:nvSpPr>
          <p:cNvPr id="136" name="Google Shape;136;p17"/>
          <p:cNvSpPr/>
          <p:nvPr/>
        </p:nvSpPr>
        <p:spPr>
          <a:xfrm rot="5400000">
            <a:off x="2091263" y="2284557"/>
            <a:ext cx="335700" cy="1425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</a:t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imagens são elementos importantes em páginas da web, pois ajudam a transmitir informações visualmente e tornam o conteúdo mais atraente para os usuários.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Principais Atributos:</a:t>
            </a:r>
            <a:endParaRPr b="1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pt-BR"/>
              <a:t>SRC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/>
              <a:t>ALT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/>
              <a:t>WIDTH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/>
              <a:t>HEIGHT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SRC</a:t>
            </a:r>
            <a:endParaRPr b="1"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atributo src é utilizado para especificar o </a:t>
            </a:r>
            <a:r>
              <a:rPr b="1" lang="pt-BR"/>
              <a:t>caminho </a:t>
            </a:r>
            <a:r>
              <a:rPr lang="pt-BR"/>
              <a:t>da imagem que será exibida na página. 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É crucial fornecer o </a:t>
            </a:r>
            <a:r>
              <a:rPr b="1" lang="pt-BR"/>
              <a:t>caminho correto</a:t>
            </a:r>
            <a:r>
              <a:rPr lang="pt-BR"/>
              <a:t> para a imagem, seja ela uma imagem local ou hospedada na web.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&lt;img </a:t>
            </a:r>
            <a:r>
              <a:rPr b="1" lang="pt-BR"/>
              <a:t>src="caminho/para/sua/imagem.jpg"</a:t>
            </a:r>
            <a:r>
              <a:rPr lang="pt-BR"/>
              <a:t> &gt;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ALT</a:t>
            </a:r>
            <a:endParaRPr b="1"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atributo alt fornece um </a:t>
            </a:r>
            <a:r>
              <a:rPr b="1" lang="pt-BR"/>
              <a:t>texto alternativo</a:t>
            </a:r>
            <a:r>
              <a:rPr lang="pt-BR"/>
              <a:t> que será exibido caso a imagem não possa ser carregada ou </a:t>
            </a:r>
            <a:r>
              <a:rPr b="1" lang="pt-BR"/>
              <a:t>para usuários que utilizam leitores de tela</a:t>
            </a:r>
            <a:r>
              <a:rPr lang="pt-BR"/>
              <a:t>. 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É importante descrever o conteúdo da imagem de forma concisa e informativa.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&lt;img src="imagem.jpg" </a:t>
            </a:r>
            <a:r>
              <a:rPr b="1" lang="pt-BR"/>
              <a:t>alt="Pôr do sol na praia"</a:t>
            </a:r>
            <a:r>
              <a:rPr lang="pt-BR"/>
              <a:t>&gt;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WIDTH E HEIGHT</a:t>
            </a:r>
            <a:endParaRPr b="1"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Os atributos width e height permitem </a:t>
            </a:r>
            <a:r>
              <a:rPr b="1" lang="pt-BR"/>
              <a:t>ajustar o tamanho </a:t>
            </a:r>
            <a:r>
              <a:rPr lang="pt-BR"/>
              <a:t>das imagens diretamente no HTML. 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É recomendado especificar esses valores para garantir que as imagens sejam exibidas corretamente e para melhorar o desempenho do carregamento da página.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&lt;img src="imagem.jpg" alt="Montanhas cobertas de neve"</a:t>
            </a:r>
            <a:r>
              <a:rPr b="1" lang="pt-BR"/>
              <a:t> width="500px" height="300px"</a:t>
            </a:r>
            <a:r>
              <a:rPr lang="pt-BR"/>
              <a:t>&gt;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</a:t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tabelas são elementos que são utilizados para apresentar informações, sejam elas textos ou números;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Estrutura básica de uma tabela: &lt;table&gt;, &lt;tr&gt;, &lt;th&gt; e &lt;td&gt;: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&lt;table&gt;</a:t>
            </a:r>
            <a:r>
              <a:rPr lang="pt-BR"/>
              <a:t>: Define a tabela como um todo.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&lt;tr&gt;</a:t>
            </a:r>
            <a:r>
              <a:rPr lang="pt-BR"/>
              <a:t>: Define uma linha na tabela.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&lt;th&gt;</a:t>
            </a:r>
            <a:r>
              <a:rPr lang="pt-BR"/>
              <a:t>: Define um cabeçalho de tabela (normalmente utilizado para os títulos das colunas ou linhas).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&lt;td&gt;</a:t>
            </a:r>
            <a:r>
              <a:rPr lang="pt-BR"/>
              <a:t>: Define uma célula de dados na tabela.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</a:t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900" y="1552700"/>
            <a:ext cx="2589600" cy="3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403" y="1777670"/>
            <a:ext cx="3889440" cy="271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Âncoras (links)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elemento &lt;a&gt; é utilizado para criar links em HTML, permitindo que os usuários naveguem entre diferentes páginas da web ou acessem recursos específicos.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atributo </a:t>
            </a:r>
            <a:r>
              <a:rPr b="1" lang="pt-BR"/>
              <a:t>href</a:t>
            </a:r>
            <a:r>
              <a:rPr lang="pt-BR"/>
              <a:t> especifica o destino do link, indicando o URL da página para onde o usuário será direcionado ao clicar no link.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&lt;a href="https://www.exemplo.com"&gt;Visite nosso site&lt;/a&gt;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&lt;a href="pagina.html"&gt;Ir para página&lt;/a&gt;</a:t>
            </a:r>
            <a:endParaRPr/>
          </a:p>
        </p:txBody>
      </p:sp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Âncoras (links)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link pode ser utilizado com outros elementos: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&lt;a href=”pagina_exemplo.html”&gt;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  &lt;img src=”exemplo.png”&gt;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249" y="2136778"/>
            <a:ext cx="5139126" cy="6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Âncoras (links)</a:t>
            </a:r>
            <a:endParaRPr/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 atributo target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atributo target é utilizado para controlar como o navegador deve abrir o link;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 Ao definir target="_blank", o link será aberto em uma nova janela ou aba do navegador;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</a:t>
            </a:r>
            <a:r>
              <a:rPr lang="pt-BR" sz="1200">
                <a:latin typeface="Courier New"/>
                <a:ea typeface="Courier New"/>
                <a:cs typeface="Courier New"/>
                <a:sym typeface="Courier New"/>
              </a:rPr>
              <a:t>&lt;a href=”</a:t>
            </a:r>
            <a:r>
              <a:rPr lang="pt-BR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http://www.ifrn.edu.br</a:t>
            </a:r>
            <a:r>
              <a:rPr lang="pt-BR" sz="1200">
                <a:latin typeface="Courier New"/>
                <a:ea typeface="Courier New"/>
                <a:cs typeface="Courier New"/>
                <a:sym typeface="Courier New"/>
              </a:rPr>
              <a:t>” </a:t>
            </a:r>
            <a:r>
              <a:rPr b="1" lang="pt-BR" sz="1200">
                <a:latin typeface="Courier New"/>
                <a:ea typeface="Courier New"/>
                <a:cs typeface="Courier New"/>
                <a:sym typeface="Courier New"/>
              </a:rPr>
              <a:t>target=”_blank”</a:t>
            </a:r>
            <a:r>
              <a:rPr lang="pt-BR" sz="1200">
                <a:latin typeface="Courier New"/>
                <a:ea typeface="Courier New"/>
                <a:cs typeface="Courier New"/>
                <a:sym typeface="Courier New"/>
              </a:rPr>
              <a:t>&gt;Acesse o site do IFRN&lt;/a&gt;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Âncoras (links)</a:t>
            </a:r>
            <a:endParaRPr/>
          </a:p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Posso ter links para páginas externas (outros sites) ou páginas internas.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Link para páginas externas: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Link para páginas internas: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&lt;a href="pagina.html"&gt;Ir para página&lt;/a&gt;</a:t>
            </a:r>
            <a:endParaRPr/>
          </a:p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9949" y="2425928"/>
            <a:ext cx="5139126" cy="6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de Arquivos</a:t>
            </a:r>
            <a:endParaRPr/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se trabalha com caminhos de arquivos ou links, existem duas maneiras de se referenciá-los: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	Caminho Absoluto;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	Caminho Relativo.</a:t>
            </a:r>
            <a:endParaRPr b="1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de Arquivos</a:t>
            </a:r>
            <a:endParaRPr/>
          </a:p>
        </p:txBody>
      </p:sp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Caminho Absoluto:</a:t>
            </a:r>
            <a:endParaRPr b="1"/>
          </a:p>
          <a:p>
            <a:pPr indent="0" lvl="0" marL="54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Um caminho absoluto especifica o local exato de um arquivo ou recurso na hierarquia de diretórios do sistema de arquivos ou na web;</a:t>
            </a:r>
            <a:endParaRPr/>
          </a:p>
          <a:p>
            <a:pPr indent="0" lvl="0" marL="54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Ele começa a partir da raiz do sistema de arquivos ou da raiz do site, dependendo de onde o recurso está hospedado. </a:t>
            </a:r>
            <a:endParaRPr/>
          </a:p>
          <a:p>
            <a:pPr indent="0" lvl="0" marL="54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Ex.:</a:t>
            </a:r>
            <a:endParaRPr/>
          </a:p>
          <a:p>
            <a:pPr indent="0" lvl="0" marL="54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&lt;img src=”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https://www.exemplo.com/imagens/imagem.jpg</a:t>
            </a:r>
            <a:r>
              <a:rPr lang="pt-BR"/>
              <a:t>”&gt;</a:t>
            </a:r>
            <a:endParaRPr/>
          </a:p>
          <a:p>
            <a:pPr indent="0" lvl="0" marL="540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&lt;a href =”C:\Users</a:t>
            </a:r>
            <a:r>
              <a:rPr lang="pt-BR" sz="1050">
                <a:solidFill>
                  <a:srgbClr val="000000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\1273753\Documents\meu primeiro projeto\index.html”&gt;</a:t>
            </a:r>
            <a:endParaRPr/>
          </a:p>
        </p:txBody>
      </p:sp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de Arquivos</a:t>
            </a:r>
            <a:endParaRPr/>
          </a:p>
        </p:txBody>
      </p:sp>
      <p:sp>
        <p:nvSpPr>
          <p:cNvPr id="229" name="Google Shape;229;p30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Caminho Relativo:</a:t>
            </a:r>
            <a:endParaRPr b="1"/>
          </a:p>
          <a:p>
            <a:pPr indent="0" lvl="0" marL="45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Um caminho relativo especifica o local de um arquivo ou recurso em relação à localização do arquivo atual;</a:t>
            </a:r>
            <a:endParaRPr/>
          </a:p>
          <a:p>
            <a:pPr indent="0" lvl="0" marL="45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Isso significa que o caminho relativo é determinado com base na estrutura de diretórios em que os arquivos estão organizados;</a:t>
            </a:r>
            <a:endParaRPr/>
          </a:p>
          <a:p>
            <a:pPr indent="0" lvl="0" marL="4500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Ex.:</a:t>
            </a:r>
            <a:endParaRPr/>
          </a:p>
          <a:p>
            <a:pPr indent="0" lvl="0" marL="450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&lt;a href=”index.html”&gt;</a:t>
            </a:r>
            <a:endParaRPr b="1"/>
          </a:p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de Arquivos</a:t>
            </a:r>
            <a:endParaRPr/>
          </a:p>
        </p:txBody>
      </p:sp>
      <p:sp>
        <p:nvSpPr>
          <p:cNvPr id="236" name="Google Shape;236;p31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Quando usar caminho absoluto e caminho relativo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Absoluto: sempre que estiver acessando um recurso externo ao projeto;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Relativo: sempre que estiver acessando um recurso interno ao projeto.</a:t>
            </a:r>
            <a:endParaRPr/>
          </a:p>
        </p:txBody>
      </p:sp>
      <p:sp>
        <p:nvSpPr>
          <p:cNvPr id="237" name="Google Shape;237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Boas Práticas para Criação de Links</a:t>
            </a:r>
            <a:endParaRPr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729450" y="1587650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Quando usar caminho absoluto e caminho relativo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Absoluto: sempre que estiver acessando um recurso externo ao projeto;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Relativo: sempre que estiver acessando um recurso interno ao projeto.</a:t>
            </a:r>
            <a:endParaRPr/>
          </a:p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Boas Práticas para Criação de Links</a:t>
            </a:r>
            <a:endParaRPr/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1500"/>
              <a:t>Boas práticas para construção de links:</a:t>
            </a:r>
            <a:endParaRPr sz="1500"/>
          </a:p>
          <a:p>
            <a:pPr indent="-1841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1300"/>
              <a:t>Use textos claros;</a:t>
            </a:r>
            <a:endParaRPr sz="1300"/>
          </a:p>
          <a:p>
            <a:pPr indent="-1841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1300"/>
              <a:t>Tentar utilizar palavras-chaves nos links;</a:t>
            </a:r>
            <a:endParaRPr sz="13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300"/>
              <a:t>Exemplo de um bom link:</a:t>
            </a:r>
            <a:endParaRPr sz="1300"/>
          </a:p>
          <a:p>
            <a:pPr indent="0" lvl="2" marL="6858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5B5"/>
              </a:buClr>
              <a:buSzPts val="1800"/>
              <a:buNone/>
            </a:pPr>
            <a:r>
              <a:rPr lang="pt-BR" sz="1300">
                <a:solidFill>
                  <a:srgbClr val="2E75B5"/>
                </a:solidFill>
              </a:rPr>
              <a:t>Download Firefox</a:t>
            </a:r>
            <a:endParaRPr sz="13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2" name="Google Shape;25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02" y="3733604"/>
            <a:ext cx="3920425" cy="9506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33"/>
          <p:cNvSpPr txBox="1"/>
          <p:nvPr/>
        </p:nvSpPr>
        <p:spPr>
          <a:xfrm>
            <a:off x="4572000" y="2868143"/>
            <a:ext cx="4275600" cy="2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Exemplo de um link ruim:</a:t>
            </a:r>
            <a:endParaRPr sz="800">
              <a:solidFill>
                <a:srgbClr val="666666"/>
              </a:solidFill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Click here</a:t>
            </a:r>
            <a:r>
              <a:rPr b="0" i="0" lang="pt-BR" sz="15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baixar o Firefox</a:t>
            </a:r>
            <a:endParaRPr sz="800"/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598" y="3686304"/>
            <a:ext cx="3800475" cy="1228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Hyperlink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pt-BR" sz="1600"/>
              <a:t>Boas práticas para construção de links:</a:t>
            </a:r>
            <a:endParaRPr sz="1600"/>
          </a:p>
          <a:p>
            <a:pPr indent="-1905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1400"/>
              <a:t>Não utilize a própria url como link;</a:t>
            </a:r>
            <a:endParaRPr sz="14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400"/>
          </a:p>
          <a:p>
            <a:pPr indent="-1905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1400"/>
              <a:t>Não informe que um link é um link;</a:t>
            </a:r>
            <a:endParaRPr sz="14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400"/>
          </a:p>
          <a:p>
            <a:pPr indent="-1905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1400"/>
              <a:t>Tente manter os links curtos;</a:t>
            </a:r>
            <a:endParaRPr sz="14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Hyperlink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1500"/>
              <a:t>Boas práticas para construção de links:</a:t>
            </a:r>
            <a:endParaRPr sz="1500"/>
          </a:p>
          <a:p>
            <a:pPr indent="-1841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1300"/>
              <a:t>Informe quando um link redirecionar para um conteúdo que não seja HTML;</a:t>
            </a:r>
            <a:endParaRPr sz="13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68" name="Google Shape;268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9" name="Google Shape;2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124" y="2486375"/>
            <a:ext cx="5804499" cy="26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Hyperlink</a:t>
            </a:r>
            <a:endParaRPr/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pt-BR" sz="1500"/>
              <a:t>Boas práticas para construção de links:</a:t>
            </a:r>
            <a:endParaRPr sz="1500"/>
          </a:p>
          <a:p>
            <a:pPr indent="-1841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1300"/>
              <a:t>Utilize o atributo download quando o conteúdo do link deve ser baixado e não aberto pelo navegador:</a:t>
            </a:r>
            <a:endParaRPr sz="13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76" name="Google Shape;276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93" y="2857494"/>
            <a:ext cx="8795011" cy="119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https://developer.mozilla.org/pt-BR/docs/Learn/HTML/Introduction_to_HTML/Creating_hyperlinks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