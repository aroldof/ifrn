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embeddedFontLst>
    <p:embeddedFont>
      <p:font typeface="Raleway"/>
      <p:regular r:id="rId50"/>
      <p:bold r:id="rId51"/>
      <p:italic r:id="rId52"/>
      <p:boldItalic r:id="rId53"/>
    </p:embeddedFont>
    <p:embeddedFont>
      <p:font typeface="Lato"/>
      <p:regular r:id="rId54"/>
      <p:bold r:id="rId55"/>
      <p:italic r:id="rId56"/>
      <p:boldItalic r:id="rId5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aleway-bold.fntdata"/><Relationship Id="rId50" Type="http://schemas.openxmlformats.org/officeDocument/2006/relationships/font" Target="fonts/Raleway-regular.fntdata"/><Relationship Id="rId53" Type="http://schemas.openxmlformats.org/officeDocument/2006/relationships/font" Target="fonts/Raleway-boldItalic.fntdata"/><Relationship Id="rId52" Type="http://schemas.openxmlformats.org/officeDocument/2006/relationships/font" Target="fonts/Raleway-italic.fntdata"/><Relationship Id="rId11" Type="http://schemas.openxmlformats.org/officeDocument/2006/relationships/slide" Target="slides/slide6.xml"/><Relationship Id="rId55" Type="http://schemas.openxmlformats.org/officeDocument/2006/relationships/font" Target="fonts/Lato-bold.fntdata"/><Relationship Id="rId10" Type="http://schemas.openxmlformats.org/officeDocument/2006/relationships/slide" Target="slides/slide5.xml"/><Relationship Id="rId54" Type="http://schemas.openxmlformats.org/officeDocument/2006/relationships/font" Target="fonts/Lato-regular.fntdata"/><Relationship Id="rId13" Type="http://schemas.openxmlformats.org/officeDocument/2006/relationships/slide" Target="slides/slide8.xml"/><Relationship Id="rId57" Type="http://schemas.openxmlformats.org/officeDocument/2006/relationships/font" Target="fonts/Lato-boldItalic.fntdata"/><Relationship Id="rId12" Type="http://schemas.openxmlformats.org/officeDocument/2006/relationships/slide" Target="slides/slide7.xml"/><Relationship Id="rId56" Type="http://schemas.openxmlformats.org/officeDocument/2006/relationships/font" Target="fonts/Lato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a6401a7fa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a6401a7f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54d6d737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54d6d73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a54d6d737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a54d6d737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a54d6d737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a54d6d737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a54d6d737c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a54d6d737c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a54d6d737c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a54d6d737c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a54d6d737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a54d6d737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a54d6d737c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a54d6d737c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a54d6d737c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a54d6d737c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a6401a7fa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a6401a7fa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a6401a7fa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a6401a7fa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a6401a7fa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a6401a7fa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a6401a7fa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a6401a7fa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a6401a7fa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a6401a7fa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a6401a7fa8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a6401a7fa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9f1b1154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9f1b1154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9f1b1154d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9f1b1154d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9f1b1154de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9f1b1154de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9fd8b1e8a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9fd8b1e8a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9fd8b1e8a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9fd8b1e8a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9fd8b1e8a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9fd8b1e8a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9fd8b1e8a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9fd8b1e8a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9fd8b1e8a2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9fd8b1e8a2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9fd8b1e8a2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9fd8b1e8a2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9fd8b1e8a2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9fd8b1e8a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9fd8b1e8a2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9fd8b1e8a2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9fd8b1e8a2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9fd8b1e8a2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9fd8b1e8a2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9fd8b1e8a2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c5937060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2c5937060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c593706028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c593706028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c59370602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2c59370602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c59370602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2c59370602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c593706028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2c593706028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c59370602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c59370602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c593706028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2c593706028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c593706028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2c593706028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c593706028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2c593706028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c593706028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2c593706028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c593706028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2c593706028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c593706028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2c593706028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c593706028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2c593706028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c593706028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2c593706028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9fd8b1e8a2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9fd8b1e8a2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D9EAD3">
            <a:alpha val="20310"/>
          </a:srgbClr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D9EAD3">
            <a:alpha val="43230"/>
          </a:srgbClr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600"/>
              <a:buNone/>
              <a:defRPr sz="3600">
                <a:solidFill>
                  <a:srgbClr val="43434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grpSp>
        <p:nvGrpSpPr>
          <p:cNvPr id="21" name="Google Shape;21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2" name="Google Shape;22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4" name="Google Shape;2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rgbClr val="D9EAD3">
              <a:alpha val="43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" name="Google Shape;27;p4"/>
          <p:cNvGrpSpPr/>
          <p:nvPr/>
        </p:nvGrpSpPr>
        <p:grpSpPr>
          <a:xfrm>
            <a:off x="830392" y="734056"/>
            <a:ext cx="745763" cy="45826"/>
            <a:chOff x="830392" y="734056"/>
            <a:chExt cx="745763" cy="45826"/>
          </a:xfrm>
        </p:grpSpPr>
        <p:sp>
          <p:nvSpPr>
            <p:cNvPr id="28" name="Google Shape;28;p4"/>
            <p:cNvSpPr/>
            <p:nvPr/>
          </p:nvSpPr>
          <p:spPr>
            <a:xfrm rot="-5400000">
              <a:off x="1366812" y="570539"/>
              <a:ext cx="45826" cy="37285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 rot="-5400000">
              <a:off x="995485" y="568963"/>
              <a:ext cx="45826" cy="376012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" name="Google Shape;30;p4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" name="Google Shape;33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rgbClr val="D9EAD3">
              <a:alpha val="432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" name="Google Shape;36;p5"/>
          <p:cNvGrpSpPr/>
          <p:nvPr/>
        </p:nvGrpSpPr>
        <p:grpSpPr>
          <a:xfrm>
            <a:off x="830392" y="734056"/>
            <a:ext cx="745763" cy="45826"/>
            <a:chOff x="4580561" y="2589004"/>
            <a:chExt cx="1064464" cy="25200"/>
          </a:xfrm>
        </p:grpSpPr>
        <p:sp>
          <p:nvSpPr>
            <p:cNvPr id="37" name="Google Shape;37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5"/>
          <p:cNvSpPr txBox="1"/>
          <p:nvPr>
            <p:ph type="title"/>
          </p:nvPr>
        </p:nvSpPr>
        <p:spPr>
          <a:xfrm>
            <a:off x="729450" y="8614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729325" y="16216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643604" y="16216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7" name="Google Shape;47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9" name="Google Shape;49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" name="Google Shape;54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5" name="Google Shape;55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8" name="Google Shape;58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60" name="Google Shape;6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0843" y="4607850"/>
            <a:ext cx="502029" cy="487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3" name="Google Shape;63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" name="Google Shape;64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" name="Google Shape;65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" name="Google Shape;66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" name="Google Shape;69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0" name="Google Shape;70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2" name="Google Shape;72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3" name="Google Shape;73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74" name="Google Shape;74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8" name="Google Shape;78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oogle Shape;80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1" name="Google Shape;81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3" name="Google Shape;83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mindmaster.io/" TargetMode="External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www.calltoidea.com/" TargetMode="External"/><Relationship Id="rId4" Type="http://schemas.openxmlformats.org/officeDocument/2006/relationships/hyperlink" Target="https://onepagelove.com/" TargetMode="External"/><Relationship Id="rId5" Type="http://schemas.openxmlformats.org/officeDocument/2006/relationships/hyperlink" Target="https://themeforest.net/" TargetMode="External"/><Relationship Id="rId6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Relationship Id="rId4" Type="http://schemas.openxmlformats.org/officeDocument/2006/relationships/image" Target="../media/image22.png"/><Relationship Id="rId5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brandcolors.net/" TargetMode="External"/><Relationship Id="rId4" Type="http://schemas.openxmlformats.org/officeDocument/2006/relationships/hyperlink" Target="http://www.lokeshdhakar.com" TargetMode="External"/><Relationship Id="rId5" Type="http://schemas.openxmlformats.org/officeDocument/2006/relationships/hyperlink" Target="http://www.colorhunt.co" TargetMode="External"/><Relationship Id="rId6" Type="http://schemas.openxmlformats.org/officeDocument/2006/relationships/hyperlink" Target="https://webgradients.com/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9.jpg"/><Relationship Id="rId4" Type="http://schemas.openxmlformats.org/officeDocument/2006/relationships/image" Target="../media/image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5.png"/><Relationship Id="rId4" Type="http://schemas.openxmlformats.org/officeDocument/2006/relationships/image" Target="../media/image30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8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medium.com/ui-lab-school/os-princ%C3%ADpios-do-design-em-user-interface-80f300cb81e0#:~:text=um%20bom%20design.-,Eixo,identificado%20como%20uma%20linha%20vermelha" TargetMode="External"/><Relationship Id="rId4" Type="http://schemas.openxmlformats.org/officeDocument/2006/relationships/hyperlink" Target="https://desenvolvimentoparaweb.com/miscelanea/briefing-para-desenvolvimento-de-web-sites-consideracoes-dicas-e-modelo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>
            <a:alpha val="43230"/>
          </a:srgbClr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Web Design</a:t>
            </a:r>
            <a:endParaRPr/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/>
              <a:t>Conceitos</a:t>
            </a:r>
            <a:endParaRPr sz="3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dk2"/>
                </a:solidFill>
              </a:rPr>
              <a:t>Metodologia de Criação de um Projeto Web</a:t>
            </a:r>
            <a:endParaRPr/>
          </a:p>
        </p:txBody>
      </p:sp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Metodologia de Criação de um Projeto Web</a:t>
            </a:r>
            <a:endParaRPr/>
          </a:p>
        </p:txBody>
      </p:sp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729450" y="1621675"/>
            <a:ext cx="6064500" cy="312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/>
              <a:t>Passo 1: </a:t>
            </a:r>
            <a:r>
              <a:rPr b="1" lang="pt-BR" sz="1400"/>
              <a:t>Levantamento de Informações</a:t>
            </a:r>
            <a:endParaRPr b="1" sz="1400"/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/>
              <a:t>Aplicação de briefing:</a:t>
            </a:r>
            <a:r>
              <a:rPr lang="pt-BR"/>
              <a:t> conhecer as necessidades do cliente;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/>
              <a:t>P</a:t>
            </a:r>
            <a:r>
              <a:rPr b="1" lang="pt-BR"/>
              <a:t>lanejamento:</a:t>
            </a:r>
            <a:r>
              <a:rPr lang="pt-BR"/>
              <a:t> a partir do briefing, planejar o site, navegação, suas páginas e seus conteúdos;</a:t>
            </a:r>
            <a:endParaRPr/>
          </a:p>
          <a:p>
            <a:pPr indent="45720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O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mindmaster</a:t>
            </a:r>
            <a:r>
              <a:rPr lang="pt-BR"/>
              <a:t> é uma ótima ferramenta.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/>
              <a:t>Levantamento de conteúdo:</a:t>
            </a:r>
            <a:r>
              <a:rPr lang="pt-BR"/>
              <a:t> s</a:t>
            </a:r>
            <a:r>
              <a:rPr lang="pt-BR"/>
              <a:t>olicitar ao proprietário todas as mídias para o projeto</a:t>
            </a:r>
            <a:endParaRPr/>
          </a:p>
          <a:p>
            <a:pPr indent="0" lvl="0" marL="457200" rtl="0" algn="l">
              <a:lnSpc>
                <a:spcPct val="100000"/>
              </a:lnSpc>
              <a:spcBef>
                <a:spcPts val="1600"/>
              </a:spcBef>
              <a:spcAft>
                <a:spcPts val="1000"/>
              </a:spcAft>
              <a:buNone/>
            </a:pPr>
            <a:r>
              <a:rPr b="1" lang="pt-BR"/>
              <a:t>Pesquisa de mercado:</a:t>
            </a:r>
            <a:r>
              <a:rPr lang="pt-BR"/>
              <a:t> conhecer os concorrentes do seu cliente.</a:t>
            </a:r>
            <a:endParaRPr/>
          </a:p>
        </p:txBody>
      </p:sp>
      <p:sp>
        <p:nvSpPr>
          <p:cNvPr id="106" name="Google Shape;106;p1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7" name="Google Shape;10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79225" y="2729112"/>
            <a:ext cx="1805775" cy="180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7543713" y="4534888"/>
            <a:ext cx="12768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latin typeface="Lato"/>
                <a:ea typeface="Lato"/>
                <a:cs typeface="Lato"/>
                <a:sym typeface="Lato"/>
              </a:rPr>
              <a:t>Fonte: www.freepik.com</a:t>
            </a:r>
            <a:endParaRPr sz="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Metodologia de Criação de um Projeto Web</a:t>
            </a:r>
            <a:endParaRPr/>
          </a:p>
        </p:txBody>
      </p:sp>
      <p:sp>
        <p:nvSpPr>
          <p:cNvPr id="114" name="Google Shape;114;p16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/>
              <a:t>P</a:t>
            </a:r>
            <a:r>
              <a:rPr b="1" lang="pt-BR" sz="1400"/>
              <a:t>lanejamento</a:t>
            </a:r>
            <a:endParaRPr b="1" sz="14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mindmaster:</a:t>
            </a:r>
            <a:endParaRPr/>
          </a:p>
        </p:txBody>
      </p:sp>
      <p:sp>
        <p:nvSpPr>
          <p:cNvPr id="115" name="Google Shape;115;p1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6" name="Google Shape;11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0896" y="2132550"/>
            <a:ext cx="3859424" cy="2106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4264950" y="2701275"/>
            <a:ext cx="614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Lato"/>
                <a:ea typeface="Lato"/>
                <a:cs typeface="Lato"/>
                <a:sym typeface="Lato"/>
              </a:rPr>
              <a:t>Site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5403563" y="2416350"/>
            <a:ext cx="6141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Lato"/>
                <a:ea typeface="Lato"/>
                <a:cs typeface="Lato"/>
                <a:sym typeface="Lato"/>
              </a:rPr>
              <a:t>Páginas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6321625" y="2064825"/>
            <a:ext cx="8793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Lato"/>
                <a:ea typeface="Lato"/>
                <a:cs typeface="Lato"/>
                <a:sym typeface="Lato"/>
              </a:rPr>
              <a:t>Conteúdos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7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Metodologia de Criação de um Projeto Web</a:t>
            </a:r>
            <a:endParaRPr/>
          </a:p>
        </p:txBody>
      </p:sp>
      <p:sp>
        <p:nvSpPr>
          <p:cNvPr id="125" name="Google Shape;125;p17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/>
              <a:t>Passo 2: Cronograma</a:t>
            </a:r>
            <a:endParaRPr b="1" sz="14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Determinar prazos para cada etapa do projeto.</a:t>
            </a:r>
            <a:endParaRPr/>
          </a:p>
        </p:txBody>
      </p:sp>
      <p:sp>
        <p:nvSpPr>
          <p:cNvPr id="126" name="Google Shape;126;p1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6816213" y="4174000"/>
            <a:ext cx="12768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latin typeface="Lato"/>
                <a:ea typeface="Lato"/>
                <a:cs typeface="Lato"/>
                <a:sym typeface="Lato"/>
              </a:rPr>
              <a:t>Fonte: www.freepik.com</a:t>
            </a:r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8" name="Google Shape;12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1687" y="1930312"/>
            <a:ext cx="2285875" cy="2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Metodologia de Criação de um Projeto Web</a:t>
            </a:r>
            <a:endParaRPr/>
          </a:p>
        </p:txBody>
      </p:sp>
      <p:sp>
        <p:nvSpPr>
          <p:cNvPr id="134" name="Google Shape;134;p18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/>
              <a:t>Passo 3: Wireframe</a:t>
            </a:r>
            <a:endParaRPr b="1" sz="14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Esboço do design da interface.</a:t>
            </a:r>
            <a:endParaRPr/>
          </a:p>
        </p:txBody>
      </p:sp>
      <p:sp>
        <p:nvSpPr>
          <p:cNvPr id="135" name="Google Shape;135;p1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6" name="Google Shape;13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2675" y="1984612"/>
            <a:ext cx="2402225" cy="2402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/>
        </p:nvSpPr>
        <p:spPr>
          <a:xfrm>
            <a:off x="6605375" y="4461250"/>
            <a:ext cx="12768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latin typeface="Lato"/>
                <a:ea typeface="Lato"/>
                <a:cs typeface="Lato"/>
                <a:sym typeface="Lato"/>
              </a:rPr>
              <a:t>Fonte: www.freepik.com</a:t>
            </a:r>
            <a:endParaRPr sz="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Metodologia de Criação de um Projeto Web</a:t>
            </a:r>
            <a:endParaRPr/>
          </a:p>
        </p:txBody>
      </p:sp>
      <p:sp>
        <p:nvSpPr>
          <p:cNvPr id="143" name="Google Shape;143;p19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/>
              <a:t>Passo 4: Inspiração</a:t>
            </a:r>
            <a:endParaRPr b="1" sz="14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Novas referências, novas tendências, conceitos e bagagem virtual;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pode-se consultar outros sites como inspiração.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Fontes de inspiração: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http://www.calltoidea.com/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https://onepagelove.com/</a:t>
            </a:r>
            <a:r>
              <a:rPr lang="pt-B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https://themeforest.net/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5" name="Google Shape;145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09950" y="2159593"/>
            <a:ext cx="2823524" cy="205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/>
        </p:nvSpPr>
        <p:spPr>
          <a:xfrm>
            <a:off x="6983313" y="4211850"/>
            <a:ext cx="12768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latin typeface="Lato"/>
                <a:ea typeface="Lato"/>
                <a:cs typeface="Lato"/>
                <a:sym typeface="Lato"/>
              </a:rPr>
              <a:t>Fonte: www.freepik.com</a:t>
            </a:r>
            <a:endParaRPr sz="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Metodologia de Criação de um Projeto Web</a:t>
            </a:r>
            <a:endParaRPr/>
          </a:p>
        </p:txBody>
      </p:sp>
      <p:sp>
        <p:nvSpPr>
          <p:cNvPr id="152" name="Google Shape;152;p20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/>
              <a:t>Passo 5: Desenvolvimento do layout</a:t>
            </a:r>
            <a:endParaRPr b="1" sz="14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Projeção do site;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O resultado é um desenho próximo do real.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b="1"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 sz="1400"/>
              <a:t>Passo 6: Prototipação</a:t>
            </a:r>
            <a:endParaRPr b="1" sz="1400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Layout navegável para experiência do cliente.</a:t>
            </a:r>
            <a:endParaRPr/>
          </a:p>
        </p:txBody>
      </p:sp>
      <p:sp>
        <p:nvSpPr>
          <p:cNvPr id="153" name="Google Shape;153;p2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Metodologia de Criação de um Projeto Web</a:t>
            </a:r>
            <a:endParaRPr/>
          </a:p>
        </p:txBody>
      </p:sp>
      <p:sp>
        <p:nvSpPr>
          <p:cNvPr id="159" name="Google Shape;159;p21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/>
              <a:t>Passo 7: Programação</a:t>
            </a:r>
            <a:endParaRPr b="1" sz="14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Front-end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Back-end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61" name="Google Shape;16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1475" y="1855837"/>
            <a:ext cx="2434825" cy="243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1"/>
          <p:cNvSpPr txBox="1"/>
          <p:nvPr/>
        </p:nvSpPr>
        <p:spPr>
          <a:xfrm>
            <a:off x="6680475" y="4290675"/>
            <a:ext cx="12768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latin typeface="Lato"/>
                <a:ea typeface="Lato"/>
                <a:cs typeface="Lato"/>
                <a:sym typeface="Lato"/>
              </a:rPr>
              <a:t>Fonte: www.freepik.com</a:t>
            </a:r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3" name="Google Shape;163;p21"/>
          <p:cNvSpPr/>
          <p:nvPr/>
        </p:nvSpPr>
        <p:spPr>
          <a:xfrm>
            <a:off x="2072175" y="2427425"/>
            <a:ext cx="111000" cy="473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1"/>
          <p:cNvSpPr txBox="1"/>
          <p:nvPr/>
        </p:nvSpPr>
        <p:spPr>
          <a:xfrm>
            <a:off x="2136600" y="2314200"/>
            <a:ext cx="5487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latin typeface="Lato"/>
                <a:ea typeface="Lato"/>
                <a:cs typeface="Lato"/>
                <a:sym typeface="Lato"/>
              </a:rPr>
              <a:t>HTML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5" name="Google Shape;165;p21"/>
          <p:cNvSpPr txBox="1"/>
          <p:nvPr/>
        </p:nvSpPr>
        <p:spPr>
          <a:xfrm>
            <a:off x="2136600" y="2519975"/>
            <a:ext cx="5487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latin typeface="Lato"/>
                <a:ea typeface="Lato"/>
                <a:cs typeface="Lato"/>
                <a:sym typeface="Lato"/>
              </a:rPr>
              <a:t>CSS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6" name="Google Shape;166;p21"/>
          <p:cNvSpPr txBox="1"/>
          <p:nvPr/>
        </p:nvSpPr>
        <p:spPr>
          <a:xfrm>
            <a:off x="2136600" y="2716750"/>
            <a:ext cx="8118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latin typeface="Lato"/>
                <a:ea typeface="Lato"/>
                <a:cs typeface="Lato"/>
                <a:sym typeface="Lato"/>
              </a:rPr>
              <a:t>JavaScript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7" name="Google Shape;167;p21"/>
          <p:cNvSpPr/>
          <p:nvPr/>
        </p:nvSpPr>
        <p:spPr>
          <a:xfrm>
            <a:off x="2009950" y="3712750"/>
            <a:ext cx="111000" cy="473700"/>
          </a:xfrm>
          <a:prstGeom prst="lef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1"/>
          <p:cNvSpPr txBox="1"/>
          <p:nvPr/>
        </p:nvSpPr>
        <p:spPr>
          <a:xfrm>
            <a:off x="2074375" y="3675725"/>
            <a:ext cx="12768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latin typeface="Lato"/>
                <a:ea typeface="Lato"/>
                <a:cs typeface="Lato"/>
                <a:sym typeface="Lato"/>
              </a:rPr>
              <a:t>PHP/JAVA/PYTHON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2074375" y="3881500"/>
            <a:ext cx="1122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latin typeface="Lato"/>
                <a:ea typeface="Lato"/>
                <a:cs typeface="Lato"/>
                <a:sym typeface="Lato"/>
              </a:rPr>
              <a:t>Banco de Dados</a:t>
            </a:r>
            <a:endParaRPr sz="9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2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Metodologia de Criação de um Projeto Web</a:t>
            </a:r>
            <a:endParaRPr/>
          </a:p>
        </p:txBody>
      </p:sp>
      <p:sp>
        <p:nvSpPr>
          <p:cNvPr id="175" name="Google Shape;175;p22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/>
              <a:t>Passo 8: Testes e ajustes</a:t>
            </a:r>
            <a:endParaRPr b="1" sz="1400"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Testes realizados pelo desenvolvedor;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Testes realizados pelo cliente com indicação de feedback;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Ajustes realizados a partir dos feedbacks.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 sz="1400"/>
              <a:t>Passo 9: publicação e manutenção</a:t>
            </a:r>
            <a:endParaRPr b="1"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400"/>
              <a:t>	tornar o site acessível para o público;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 sz="1400"/>
              <a:t>	realizar ajustes quando necessário.</a:t>
            </a:r>
            <a:endParaRPr sz="1400"/>
          </a:p>
        </p:txBody>
      </p:sp>
      <p:sp>
        <p:nvSpPr>
          <p:cNvPr id="176" name="Google Shape;176;p2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7" name="Google Shape;177;p22"/>
          <p:cNvSpPr txBox="1"/>
          <p:nvPr/>
        </p:nvSpPr>
        <p:spPr>
          <a:xfrm>
            <a:off x="6918575" y="4324750"/>
            <a:ext cx="12768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latin typeface="Lato"/>
                <a:ea typeface="Lato"/>
                <a:cs typeface="Lato"/>
                <a:sym typeface="Lato"/>
              </a:rPr>
              <a:t>Fonte: www.freepik.com</a:t>
            </a:r>
            <a:endParaRPr sz="8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8" name="Google Shape;17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0475" y="2571750"/>
            <a:ext cx="1753000" cy="175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Princípios do Design de Interfaces</a:t>
            </a:r>
            <a:endParaRPr/>
          </a:p>
        </p:txBody>
      </p:sp>
      <p:sp>
        <p:nvSpPr>
          <p:cNvPr id="184" name="Google Shape;184;p2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4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Princípios do Design de Interfaces</a:t>
            </a:r>
            <a:endParaRPr/>
          </a:p>
        </p:txBody>
      </p:sp>
      <p:sp>
        <p:nvSpPr>
          <p:cNvPr id="190" name="Google Shape;190;p2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accent1"/>
                </a:solidFill>
              </a:rPr>
              <a:t>‹#›</a:t>
            </a:fld>
            <a:endParaRPr>
              <a:solidFill>
                <a:schemeClr val="accent1"/>
              </a:solidFill>
            </a:endParaRPr>
          </a:p>
        </p:txBody>
      </p:sp>
      <p:sp>
        <p:nvSpPr>
          <p:cNvPr id="191" name="Google Shape;191;p24"/>
          <p:cNvSpPr txBox="1"/>
          <p:nvPr>
            <p:ph idx="1" type="body"/>
          </p:nvPr>
        </p:nvSpPr>
        <p:spPr>
          <a:xfrm>
            <a:off x="729450" y="1621675"/>
            <a:ext cx="57765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/>
              <a:t>Eixo</a:t>
            </a:r>
            <a:endParaRPr b="1"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	Linha imaginária usada para organizar um grupo de elementos em uma interface.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	</a:t>
            </a:r>
            <a:endParaRPr/>
          </a:p>
        </p:txBody>
      </p:sp>
      <p:pic>
        <p:nvPicPr>
          <p:cNvPr id="192" name="Google Shape;19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62275" y="1621663"/>
            <a:ext cx="1718875" cy="306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4"/>
          <p:cNvSpPr txBox="1"/>
          <p:nvPr/>
        </p:nvSpPr>
        <p:spPr>
          <a:xfrm>
            <a:off x="7070975" y="4629550"/>
            <a:ext cx="12768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latin typeface="Lato"/>
                <a:ea typeface="Lato"/>
                <a:cs typeface="Lato"/>
                <a:sym typeface="Lato"/>
              </a:rPr>
              <a:t>Fonte: (NUNES, 2015)</a:t>
            </a:r>
            <a:endParaRPr sz="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Princípios do Design de Interfaces</a:t>
            </a:r>
            <a:endParaRPr/>
          </a:p>
        </p:txBody>
      </p:sp>
      <p:sp>
        <p:nvSpPr>
          <p:cNvPr id="199" name="Google Shape;199;p2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accent1"/>
                </a:solidFill>
              </a:rPr>
              <a:t>‹#›</a:t>
            </a:fld>
            <a:endParaRPr>
              <a:solidFill>
                <a:schemeClr val="accent1"/>
              </a:solidFill>
            </a:endParaRPr>
          </a:p>
        </p:txBody>
      </p:sp>
      <p:sp>
        <p:nvSpPr>
          <p:cNvPr id="200" name="Google Shape;200;p25"/>
          <p:cNvSpPr txBox="1"/>
          <p:nvPr>
            <p:ph idx="1" type="body"/>
          </p:nvPr>
        </p:nvSpPr>
        <p:spPr>
          <a:xfrm>
            <a:off x="729450" y="1621675"/>
            <a:ext cx="52443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/>
              <a:t>Eixo</a:t>
            </a:r>
            <a:endParaRPr b="1"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	Também pode ser organizado para reforçar a divisão entre elementos;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9075" y="1579037"/>
            <a:ext cx="1795500" cy="321337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5"/>
          <p:cNvSpPr txBox="1"/>
          <p:nvPr/>
        </p:nvSpPr>
        <p:spPr>
          <a:xfrm>
            <a:off x="7147175" y="4781950"/>
            <a:ext cx="12768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latin typeface="Lato"/>
                <a:ea typeface="Lato"/>
                <a:cs typeface="Lato"/>
                <a:sym typeface="Lato"/>
              </a:rPr>
              <a:t>Fonte: (NUNES, 2015)</a:t>
            </a:r>
            <a:endParaRPr sz="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Princípios do Design de Interfaces</a:t>
            </a:r>
            <a:endParaRPr/>
          </a:p>
        </p:txBody>
      </p:sp>
      <p:sp>
        <p:nvSpPr>
          <p:cNvPr id="208" name="Google Shape;208;p2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accent1"/>
                </a:solidFill>
              </a:rPr>
              <a:t>‹#›</a:t>
            </a:fld>
            <a:endParaRPr>
              <a:solidFill>
                <a:schemeClr val="accent1"/>
              </a:solidFill>
            </a:endParaRPr>
          </a:p>
        </p:txBody>
      </p:sp>
      <p:sp>
        <p:nvSpPr>
          <p:cNvPr id="209" name="Google Shape;209;p26"/>
          <p:cNvSpPr txBox="1"/>
          <p:nvPr>
            <p:ph idx="1" type="body"/>
          </p:nvPr>
        </p:nvSpPr>
        <p:spPr>
          <a:xfrm>
            <a:off x="729450" y="1621675"/>
            <a:ext cx="52443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/>
              <a:t>Eixo</a:t>
            </a:r>
            <a:endParaRPr b="1"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Dá ideia de movimento.</a:t>
            </a:r>
            <a:endParaRPr/>
          </a:p>
        </p:txBody>
      </p:sp>
      <p:pic>
        <p:nvPicPr>
          <p:cNvPr id="210" name="Google Shape;21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6375" y="1710500"/>
            <a:ext cx="1652275" cy="2950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/>
          <p:nvPr/>
        </p:nvSpPr>
        <p:spPr>
          <a:xfrm>
            <a:off x="7070975" y="4629550"/>
            <a:ext cx="12768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latin typeface="Lato"/>
                <a:ea typeface="Lato"/>
                <a:cs typeface="Lato"/>
                <a:sym typeface="Lato"/>
              </a:rPr>
              <a:t>Fonte: (NUNES, 2015)</a:t>
            </a:r>
            <a:endParaRPr sz="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Princípios do Design de Interfaces</a:t>
            </a:r>
            <a:endParaRPr/>
          </a:p>
        </p:txBody>
      </p:sp>
      <p:sp>
        <p:nvSpPr>
          <p:cNvPr id="217" name="Google Shape;217;p2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accent1"/>
                </a:solidFill>
              </a:rPr>
              <a:t>‹#›</a:t>
            </a:fld>
            <a:endParaRPr>
              <a:solidFill>
                <a:schemeClr val="accent1"/>
              </a:solidFill>
            </a:endParaRPr>
          </a:p>
        </p:txBody>
      </p:sp>
      <p:sp>
        <p:nvSpPr>
          <p:cNvPr id="218" name="Google Shape;218;p27"/>
          <p:cNvSpPr txBox="1"/>
          <p:nvPr>
            <p:ph idx="1" type="body"/>
          </p:nvPr>
        </p:nvSpPr>
        <p:spPr>
          <a:xfrm>
            <a:off x="729450" y="1621675"/>
            <a:ext cx="52443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/>
              <a:t>Eixo</a:t>
            </a:r>
            <a:endParaRPr b="1"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	Ideia de continuidade, quando não há um ponto final definido.</a:t>
            </a:r>
            <a:endParaRPr/>
          </a:p>
        </p:txBody>
      </p:sp>
      <p:pic>
        <p:nvPicPr>
          <p:cNvPr id="219" name="Google Shape;21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8275" y="1489363"/>
            <a:ext cx="1892375" cy="339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7"/>
          <p:cNvSpPr txBox="1"/>
          <p:nvPr/>
        </p:nvSpPr>
        <p:spPr>
          <a:xfrm>
            <a:off x="7299575" y="4858150"/>
            <a:ext cx="12768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latin typeface="Lato"/>
                <a:ea typeface="Lato"/>
                <a:cs typeface="Lato"/>
                <a:sym typeface="Lato"/>
              </a:rPr>
              <a:t>Fonte: (NUNES, 2015)</a:t>
            </a:r>
            <a:endParaRPr sz="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8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Princípios do Design de Interfaces</a:t>
            </a:r>
            <a:endParaRPr/>
          </a:p>
        </p:txBody>
      </p:sp>
      <p:sp>
        <p:nvSpPr>
          <p:cNvPr id="226" name="Google Shape;226;p2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accent1"/>
                </a:solidFill>
              </a:rPr>
              <a:t>‹#›</a:t>
            </a:fld>
            <a:endParaRPr>
              <a:solidFill>
                <a:schemeClr val="accent1"/>
              </a:solidFill>
            </a:endParaRPr>
          </a:p>
        </p:txBody>
      </p:sp>
      <p:sp>
        <p:nvSpPr>
          <p:cNvPr id="227" name="Google Shape;227;p28"/>
          <p:cNvSpPr txBox="1"/>
          <p:nvPr>
            <p:ph idx="1" type="body"/>
          </p:nvPr>
        </p:nvSpPr>
        <p:spPr>
          <a:xfrm>
            <a:off x="729450" y="1621675"/>
            <a:ext cx="52443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/>
              <a:t>Simetria</a:t>
            </a:r>
            <a:endParaRPr b="1"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	Quando objetos são organizados da mesma forma em ambos os lados de um eixo;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	Sensação de equilíbrio, estabilidade e harmonia.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28" name="Google Shape;228;p28"/>
          <p:cNvPicPr preferRelativeResize="0"/>
          <p:nvPr/>
        </p:nvPicPr>
        <p:blipFill rotWithShape="1">
          <a:blip r:embed="rId3">
            <a:alphaModFix/>
          </a:blip>
          <a:srcRect b="17600" l="9877" r="0" t="18814"/>
          <a:stretch/>
        </p:blipFill>
        <p:spPr>
          <a:xfrm>
            <a:off x="6241850" y="1621675"/>
            <a:ext cx="2582375" cy="182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8"/>
          <p:cNvSpPr txBox="1"/>
          <p:nvPr/>
        </p:nvSpPr>
        <p:spPr>
          <a:xfrm>
            <a:off x="6894638" y="3371125"/>
            <a:ext cx="12768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latin typeface="Lato"/>
                <a:ea typeface="Lato"/>
                <a:cs typeface="Lato"/>
                <a:sym typeface="Lato"/>
              </a:rPr>
              <a:t>Fonte: www.freepik.com</a:t>
            </a:r>
            <a:endParaRPr sz="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Princípios do Design de Interfaces</a:t>
            </a:r>
            <a:endParaRPr/>
          </a:p>
        </p:txBody>
      </p:sp>
      <p:sp>
        <p:nvSpPr>
          <p:cNvPr id="235" name="Google Shape;235;p2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accent1"/>
                </a:solidFill>
              </a:rPr>
              <a:t>‹#›</a:t>
            </a:fld>
            <a:endParaRPr>
              <a:solidFill>
                <a:schemeClr val="accent1"/>
              </a:solidFill>
            </a:endParaRPr>
          </a:p>
        </p:txBody>
      </p:sp>
      <p:sp>
        <p:nvSpPr>
          <p:cNvPr id="236" name="Google Shape;236;p29"/>
          <p:cNvSpPr txBox="1"/>
          <p:nvPr>
            <p:ph idx="1" type="body"/>
          </p:nvPr>
        </p:nvSpPr>
        <p:spPr>
          <a:xfrm>
            <a:off x="729450" y="1621675"/>
            <a:ext cx="5244300" cy="312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/>
              <a:t>Assimetria</a:t>
            </a:r>
            <a:endParaRPr b="1"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/>
              <a:t>	</a:t>
            </a:r>
            <a:r>
              <a:rPr lang="pt-BR"/>
              <a:t>Quando os objetos são organizados de forma diferente em ambos os lados do eixo;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Pode causar estranhamento, se for mal construída.</a:t>
            </a:r>
            <a:endParaRPr/>
          </a:p>
        </p:txBody>
      </p:sp>
      <p:pic>
        <p:nvPicPr>
          <p:cNvPr id="237" name="Google Shape;23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9037" y="1563900"/>
            <a:ext cx="2769008" cy="312809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9"/>
          <p:cNvSpPr txBox="1"/>
          <p:nvPr/>
        </p:nvSpPr>
        <p:spPr>
          <a:xfrm>
            <a:off x="6808650" y="4705750"/>
            <a:ext cx="17277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latin typeface="Lato"/>
                <a:ea typeface="Lato"/>
                <a:cs typeface="Lato"/>
                <a:sym typeface="Lato"/>
              </a:rPr>
              <a:t>Fonte: </a:t>
            </a:r>
            <a:r>
              <a:rPr lang="pt-BR" sz="800">
                <a:latin typeface="Lato"/>
                <a:ea typeface="Lato"/>
                <a:cs typeface="Lato"/>
                <a:sym typeface="Lato"/>
              </a:rPr>
              <a:t>https://br.pinterest.com/</a:t>
            </a:r>
            <a:endParaRPr sz="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0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Princípios do Design de Interfaces</a:t>
            </a:r>
            <a:endParaRPr/>
          </a:p>
        </p:txBody>
      </p:sp>
      <p:sp>
        <p:nvSpPr>
          <p:cNvPr id="244" name="Google Shape;244;p3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accent1"/>
                </a:solidFill>
              </a:rPr>
              <a:t>‹#›</a:t>
            </a:fld>
            <a:endParaRPr>
              <a:solidFill>
                <a:schemeClr val="accent1"/>
              </a:solidFill>
            </a:endParaRPr>
          </a:p>
        </p:txBody>
      </p:sp>
      <p:sp>
        <p:nvSpPr>
          <p:cNvPr id="245" name="Google Shape;245;p30"/>
          <p:cNvSpPr txBox="1"/>
          <p:nvPr>
            <p:ph idx="1" type="body"/>
          </p:nvPr>
        </p:nvSpPr>
        <p:spPr>
          <a:xfrm>
            <a:off x="836950" y="1621675"/>
            <a:ext cx="3537600" cy="34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/>
              <a:t>Hierarquia</a:t>
            </a:r>
            <a:endParaRPr b="1" sz="1400"/>
          </a:p>
          <a:p>
            <a:pPr indent="0" lvl="0" marL="4500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/>
              <a:t>	</a:t>
            </a:r>
            <a:r>
              <a:rPr lang="pt-BR"/>
              <a:t>Ordem que existe para priorizar um elemento em relação ao outro;</a:t>
            </a:r>
            <a:endParaRPr/>
          </a:p>
          <a:p>
            <a:pPr indent="0" lvl="0" marL="4500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	Pode ser definida por:</a:t>
            </a:r>
            <a:endParaRPr/>
          </a:p>
          <a:p>
            <a:pPr indent="0" lvl="0" marL="4500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	</a:t>
            </a:r>
            <a:r>
              <a:rPr b="1" lang="pt-BR"/>
              <a:t>Tamanho:</a:t>
            </a:r>
            <a:r>
              <a:rPr lang="pt-BR"/>
              <a:t> elementos maiores chamam mais atenção;</a:t>
            </a:r>
            <a:endParaRPr/>
          </a:p>
          <a:p>
            <a:pPr indent="0" lvl="0" marL="4500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	</a:t>
            </a:r>
            <a:r>
              <a:rPr b="1" lang="pt-BR"/>
              <a:t>Formato:</a:t>
            </a:r>
            <a:r>
              <a:rPr lang="pt-BR"/>
              <a:t> elemento com forma diferente dos demais;</a:t>
            </a:r>
            <a:endParaRPr/>
          </a:p>
          <a:p>
            <a:pPr indent="0" lvl="0" marL="4500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	</a:t>
            </a:r>
            <a:r>
              <a:rPr b="1" lang="pt-BR"/>
              <a:t>Posição:</a:t>
            </a:r>
            <a:r>
              <a:rPr lang="pt-BR"/>
              <a:t> elemento em posição diferente com relação aos outros.</a:t>
            </a:r>
            <a:endParaRPr/>
          </a:p>
        </p:txBody>
      </p:sp>
      <p:pic>
        <p:nvPicPr>
          <p:cNvPr id="246" name="Google Shape;24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4000" y="2045025"/>
            <a:ext cx="1493975" cy="266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7425" y="2039713"/>
            <a:ext cx="1493975" cy="26784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40850" y="2045034"/>
            <a:ext cx="1493975" cy="2667816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0"/>
          <p:cNvSpPr txBox="1"/>
          <p:nvPr/>
        </p:nvSpPr>
        <p:spPr>
          <a:xfrm>
            <a:off x="4434000" y="1776175"/>
            <a:ext cx="14940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Lato"/>
                <a:ea typeface="Lato"/>
                <a:cs typeface="Lato"/>
                <a:sym typeface="Lato"/>
              </a:rPr>
              <a:t>Tamanho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0" name="Google Shape;250;p30"/>
          <p:cNvSpPr txBox="1"/>
          <p:nvPr/>
        </p:nvSpPr>
        <p:spPr>
          <a:xfrm>
            <a:off x="5987425" y="1776175"/>
            <a:ext cx="14940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Lato"/>
                <a:ea typeface="Lato"/>
                <a:cs typeface="Lato"/>
                <a:sym typeface="Lato"/>
              </a:rPr>
              <a:t>Forma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1" name="Google Shape;251;p30"/>
          <p:cNvSpPr txBox="1"/>
          <p:nvPr/>
        </p:nvSpPr>
        <p:spPr>
          <a:xfrm>
            <a:off x="7540850" y="1776175"/>
            <a:ext cx="14940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Lato"/>
                <a:ea typeface="Lato"/>
                <a:cs typeface="Lato"/>
                <a:sym typeface="Lato"/>
              </a:rPr>
              <a:t>Posição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52" name="Google Shape;252;p30"/>
          <p:cNvSpPr txBox="1"/>
          <p:nvPr/>
        </p:nvSpPr>
        <p:spPr>
          <a:xfrm>
            <a:off x="6232775" y="4705750"/>
            <a:ext cx="12768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latin typeface="Lato"/>
                <a:ea typeface="Lato"/>
                <a:cs typeface="Lato"/>
                <a:sym typeface="Lato"/>
              </a:rPr>
              <a:t>Fonte: (NUNES, 2015)</a:t>
            </a:r>
            <a:endParaRPr sz="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Princípios do Design de Interfaces</a:t>
            </a:r>
            <a:endParaRPr/>
          </a:p>
        </p:txBody>
      </p:sp>
      <p:sp>
        <p:nvSpPr>
          <p:cNvPr id="258" name="Google Shape;258;p3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accent1"/>
                </a:solidFill>
              </a:rPr>
              <a:t>‹#›</a:t>
            </a:fld>
            <a:endParaRPr>
              <a:solidFill>
                <a:schemeClr val="accent1"/>
              </a:solidFill>
            </a:endParaRPr>
          </a:p>
        </p:txBody>
      </p:sp>
      <p:sp>
        <p:nvSpPr>
          <p:cNvPr id="259" name="Google Shape;259;p31"/>
          <p:cNvSpPr txBox="1"/>
          <p:nvPr>
            <p:ph idx="1" type="body"/>
          </p:nvPr>
        </p:nvSpPr>
        <p:spPr>
          <a:xfrm>
            <a:off x="729450" y="1621675"/>
            <a:ext cx="42216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/>
              <a:t>Ritmo</a:t>
            </a:r>
            <a:endParaRPr b="1" sz="1400"/>
          </a:p>
          <a:p>
            <a:pPr indent="0" lvl="0" marL="4500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/>
              <a:t>	</a:t>
            </a:r>
            <a:r>
              <a:rPr lang="pt-BR"/>
              <a:t>Movimento criado por um padrão repetido de formas.</a:t>
            </a:r>
            <a:endParaRPr/>
          </a:p>
          <a:p>
            <a:pPr indent="0" lvl="0" marL="4500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/>
              <a:t>Padrão:</a:t>
            </a:r>
            <a:r>
              <a:rPr lang="pt-BR"/>
              <a:t> padrão de formas contínuas servem para definir um ritmo de informações, ajudando o usuário a memorizar a utilização da interface;</a:t>
            </a:r>
            <a:endParaRPr/>
          </a:p>
          <a:p>
            <a:pPr indent="0" lvl="0" marL="4500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pt-BR"/>
              <a:t>Quebras:</a:t>
            </a:r>
            <a:r>
              <a:rPr lang="pt-BR"/>
              <a:t> interrompe o sentido de continuidade, dando ênfase no elemento distinto.</a:t>
            </a:r>
            <a:endParaRPr/>
          </a:p>
        </p:txBody>
      </p:sp>
      <p:pic>
        <p:nvPicPr>
          <p:cNvPr id="260" name="Google Shape;26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5375" y="1990800"/>
            <a:ext cx="1688450" cy="301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5850" y="1990801"/>
            <a:ext cx="1688450" cy="3015087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1"/>
          <p:cNvSpPr txBox="1"/>
          <p:nvPr/>
        </p:nvSpPr>
        <p:spPr>
          <a:xfrm>
            <a:off x="5492300" y="1722000"/>
            <a:ext cx="14940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Lato"/>
                <a:ea typeface="Lato"/>
                <a:cs typeface="Lato"/>
                <a:sym typeface="Lato"/>
              </a:rPr>
              <a:t>Padrão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3" name="Google Shape;263;p31"/>
          <p:cNvSpPr txBox="1"/>
          <p:nvPr/>
        </p:nvSpPr>
        <p:spPr>
          <a:xfrm>
            <a:off x="7433075" y="1722000"/>
            <a:ext cx="1494000" cy="2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Lato"/>
                <a:ea typeface="Lato"/>
                <a:cs typeface="Lato"/>
                <a:sym typeface="Lato"/>
              </a:rPr>
              <a:t>Quebra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4" name="Google Shape;264;p31"/>
          <p:cNvSpPr txBox="1"/>
          <p:nvPr/>
        </p:nvSpPr>
        <p:spPr>
          <a:xfrm>
            <a:off x="6689975" y="4934350"/>
            <a:ext cx="12768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latin typeface="Lato"/>
                <a:ea typeface="Lato"/>
                <a:cs typeface="Lato"/>
                <a:sym typeface="Lato"/>
              </a:rPr>
              <a:t>Fonte: (NUNES, 2015)</a:t>
            </a:r>
            <a:endParaRPr sz="8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Estudo das Cores</a:t>
            </a:r>
            <a:endParaRPr/>
          </a:p>
        </p:txBody>
      </p:sp>
      <p:sp>
        <p:nvSpPr>
          <p:cNvPr id="270" name="Google Shape;270;p3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271" name="Google Shape;27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400" y="2022025"/>
            <a:ext cx="3767599" cy="2998691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2"/>
          <p:cNvSpPr txBox="1"/>
          <p:nvPr/>
        </p:nvSpPr>
        <p:spPr>
          <a:xfrm>
            <a:off x="4943675" y="4100000"/>
            <a:ext cx="3626400" cy="8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Fonte: NOWSOURCING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Tradução: Mundo da Psicologia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Estudo das Cores</a:t>
            </a:r>
            <a:endParaRPr/>
          </a:p>
        </p:txBody>
      </p:sp>
      <p:sp>
        <p:nvSpPr>
          <p:cNvPr id="278" name="Google Shape;278;p3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accent1"/>
                </a:solidFill>
              </a:rPr>
              <a:t>‹#›</a:t>
            </a:fld>
            <a:endParaRPr>
              <a:solidFill>
                <a:schemeClr val="accent1"/>
              </a:solidFill>
            </a:endParaRPr>
          </a:p>
        </p:txBody>
      </p:sp>
      <p:sp>
        <p:nvSpPr>
          <p:cNvPr id="279" name="Google Shape;279;p33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As cores sempre foram importantes para o homem como elemento de sinalização;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Cada cultura pode interpretar as cores de forma diferente.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80" name="Google Shape;28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5712" y="2515775"/>
            <a:ext cx="5876176" cy="1750775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3"/>
          <p:cNvSpPr txBox="1"/>
          <p:nvPr/>
        </p:nvSpPr>
        <p:spPr>
          <a:xfrm>
            <a:off x="2442450" y="4447825"/>
            <a:ext cx="4262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Lato"/>
                <a:ea typeface="Lato"/>
                <a:cs typeface="Lato"/>
                <a:sym typeface="Lato"/>
              </a:rPr>
              <a:t>Fonte: NOWSOURCING</a:t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Lato"/>
                <a:ea typeface="Lato"/>
                <a:cs typeface="Lato"/>
                <a:sym typeface="Lato"/>
              </a:rPr>
              <a:t>Tradução: Mundo da Psicologia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4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Estudo das Cores</a:t>
            </a:r>
            <a:endParaRPr/>
          </a:p>
        </p:txBody>
      </p:sp>
      <p:sp>
        <p:nvSpPr>
          <p:cNvPr id="287" name="Google Shape;287;p3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accent1"/>
                </a:solidFill>
              </a:rPr>
              <a:t>‹#›</a:t>
            </a:fld>
            <a:endParaRPr>
              <a:solidFill>
                <a:schemeClr val="accent1"/>
              </a:solidFill>
            </a:endParaRPr>
          </a:p>
        </p:txBody>
      </p:sp>
      <p:sp>
        <p:nvSpPr>
          <p:cNvPr id="288" name="Google Shape;288;p34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89" name="Google Shape;28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2900" y="1436675"/>
            <a:ext cx="6201800" cy="155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3413" y="3065750"/>
            <a:ext cx="6160787" cy="15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4"/>
          <p:cNvSpPr txBox="1"/>
          <p:nvPr/>
        </p:nvSpPr>
        <p:spPr>
          <a:xfrm>
            <a:off x="2442463" y="4684550"/>
            <a:ext cx="4262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Lato"/>
                <a:ea typeface="Lato"/>
                <a:cs typeface="Lato"/>
                <a:sym typeface="Lato"/>
              </a:rPr>
              <a:t>Fonte: NOWSOURCING</a:t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Lato"/>
                <a:ea typeface="Lato"/>
                <a:cs typeface="Lato"/>
                <a:sym typeface="Lato"/>
              </a:rPr>
              <a:t>Tradução: Mundo da Psicologia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5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Estudo das Cores</a:t>
            </a:r>
            <a:endParaRPr/>
          </a:p>
        </p:txBody>
      </p:sp>
      <p:sp>
        <p:nvSpPr>
          <p:cNvPr id="297" name="Google Shape;297;p3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accent1"/>
                </a:solidFill>
              </a:rPr>
              <a:t>‹#›</a:t>
            </a:fld>
            <a:endParaRPr>
              <a:solidFill>
                <a:schemeClr val="accent1"/>
              </a:solidFill>
            </a:endParaRPr>
          </a:p>
        </p:txBody>
      </p:sp>
      <p:sp>
        <p:nvSpPr>
          <p:cNvPr id="298" name="Google Shape;298;p35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5"/>
          <p:cNvSpPr txBox="1"/>
          <p:nvPr/>
        </p:nvSpPr>
        <p:spPr>
          <a:xfrm>
            <a:off x="2442463" y="4684550"/>
            <a:ext cx="4262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Lato"/>
                <a:ea typeface="Lato"/>
                <a:cs typeface="Lato"/>
                <a:sym typeface="Lato"/>
              </a:rPr>
              <a:t>Fonte: NOWSOURCING</a:t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latin typeface="Lato"/>
                <a:ea typeface="Lato"/>
                <a:cs typeface="Lato"/>
                <a:sym typeface="Lato"/>
              </a:rPr>
              <a:t>Tradução: Mundo da Psicologia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00" name="Google Shape;30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6425" y="1476353"/>
            <a:ext cx="5691150" cy="143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2025" y="3094902"/>
            <a:ext cx="5679953" cy="143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6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Estudo das Cores</a:t>
            </a:r>
            <a:endParaRPr/>
          </a:p>
        </p:txBody>
      </p:sp>
      <p:sp>
        <p:nvSpPr>
          <p:cNvPr id="307" name="Google Shape;307;p36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percepção de cores é importante para Webdesigner;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O profissional precisa conhecer dois pontos fundamentais antes de construir um website: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O tipo de empresa para a qual está construindo o website;</a:t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O público-alvo que esta empresa pretende atingir.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7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Estudo das Cores</a:t>
            </a:r>
            <a:endParaRPr/>
          </a:p>
        </p:txBody>
      </p:sp>
      <p:sp>
        <p:nvSpPr>
          <p:cNvPr id="314" name="Google Shape;314;p37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Breves noções sobre as cores:</a:t>
            </a:r>
            <a:endParaRPr/>
          </a:p>
          <a:p>
            <a:pPr indent="0" lvl="0" marL="4500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/>
              <a:t>Amarelo:</a:t>
            </a:r>
            <a:r>
              <a:rPr lang="pt-BR"/>
              <a:t> transmite alegria, vivacidade. Pode ser utilizada para dar destaque em algum elemento no layout;</a:t>
            </a:r>
            <a:endParaRPr/>
          </a:p>
          <a:p>
            <a:pPr indent="0" lvl="0" marL="45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Azul:</a:t>
            </a:r>
            <a:r>
              <a:rPr lang="pt-BR"/>
              <a:t> transmite sensação de tranquilidade, profundidade e limpeza;</a:t>
            </a:r>
            <a:endParaRPr/>
          </a:p>
          <a:p>
            <a:pPr indent="0" lvl="0" marL="45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Branco:</a:t>
            </a:r>
            <a:r>
              <a:rPr lang="pt-BR"/>
              <a:t> representa o vazio, a clareza, o início. Sites com muito branco tendem a serem mais legíveis;</a:t>
            </a:r>
            <a:endParaRPr/>
          </a:p>
          <a:p>
            <a:pPr indent="0" lvl="0" marL="45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Cinza:</a:t>
            </a:r>
            <a:r>
              <a:rPr lang="pt-BR"/>
              <a:t> transmite sensação de algo impuro e indeciso, sombrio, mas também pode dá a ideia de um site sério;</a:t>
            </a:r>
            <a:endParaRPr/>
          </a:p>
          <a:p>
            <a:pPr indent="0" lvl="0" marL="45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Laranja:</a:t>
            </a:r>
            <a:r>
              <a:rPr lang="pt-BR"/>
              <a:t> produz sensação de saciedade, aconchego, intimidade;</a:t>
            </a:r>
            <a:endParaRPr/>
          </a:p>
          <a:p>
            <a:pPr indent="0" lvl="0" marL="45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Preto:</a:t>
            </a:r>
            <a:r>
              <a:rPr lang="pt-BR"/>
              <a:t> eternidade, elegância, morte. Presente em 99% dos sites;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8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Estudo das Cores</a:t>
            </a:r>
            <a:endParaRPr/>
          </a:p>
        </p:txBody>
      </p:sp>
      <p:sp>
        <p:nvSpPr>
          <p:cNvPr id="321" name="Google Shape;321;p38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Breves noções sobre as cores:</a:t>
            </a:r>
            <a:endParaRPr/>
          </a:p>
          <a:p>
            <a:pPr indent="0" lvl="0" marL="4500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pt-BR"/>
              <a:t>Verde: </a:t>
            </a:r>
            <a:r>
              <a:rPr lang="pt-BR"/>
              <a:t>pode transmitir diferentes sensações, dependendo de sua tonalidade. Verdes mais claros é calmo, verde escuro, ideia de profundidade, seriedade. O amarelado, ideia de divertido. Deve-se ter cuidado com o uso desta cor;</a:t>
            </a:r>
            <a:endParaRPr/>
          </a:p>
          <a:p>
            <a:pPr indent="0" lvl="0" marL="45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Vermelho: </a:t>
            </a:r>
            <a:r>
              <a:rPr lang="pt-BR"/>
              <a:t>ligados aos desejos passionais. É quente, imponente, chamativo. Vermelho escuro sugere sobriedade, poder; o cereja é apaixonado, feminino;</a:t>
            </a:r>
            <a:endParaRPr/>
          </a:p>
          <a:p>
            <a:pPr indent="0" lvl="0" marL="45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Roxo: </a:t>
            </a:r>
            <a:r>
              <a:rPr lang="pt-BR"/>
              <a:t>pode dar sensação de divertido, quanto misterioso, nobre, dependendo das cores com as quais é associado.</a:t>
            </a:r>
            <a:endParaRPr/>
          </a:p>
          <a:p>
            <a:pPr indent="0" lvl="0" marL="45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4500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45720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9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Estudo das cores</a:t>
            </a:r>
            <a:endParaRPr/>
          </a:p>
        </p:txBody>
      </p:sp>
      <p:sp>
        <p:nvSpPr>
          <p:cNvPr id="328" name="Google Shape;328;p39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Não basta escolher a cor ideal. O web designer deve escolher um conjunto de cores que combinem;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O primeiro pensamento de um web designer deve ser tornar o site legível. Cores mais claras são preferíveis para ocupar a maior área.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0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Estudo das cores</a:t>
            </a:r>
            <a:endParaRPr/>
          </a:p>
        </p:txBody>
      </p:sp>
      <p:sp>
        <p:nvSpPr>
          <p:cNvPr id="335" name="Google Shape;335;p40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/>
              <a:t>Recomendações:</a:t>
            </a:r>
            <a:endParaRPr sz="1500"/>
          </a:p>
          <a:p>
            <a:pPr indent="0" lvl="0" marL="45720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Evite misturar dois tons quentes e predominantes;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Cuidado ao utilizar dois ou mais tons muito luminosos;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Evite combinar apenas preto e cinza;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Observe bem o público alvo do site antes de escolher as cores;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Preste atenção na legibilidade do site;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Tente utilizar, no máximo, três cores em seu site;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Tente trabalhar com tons diferentes de uma mesma cor;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Priorize paleta de cores baseadas em elementos da natureza;</a:t>
            </a:r>
            <a:endParaRPr/>
          </a:p>
        </p:txBody>
      </p:sp>
      <p:sp>
        <p:nvSpPr>
          <p:cNvPr id="336" name="Google Shape;336;p4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1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Estudo das cores</a:t>
            </a:r>
            <a:endParaRPr/>
          </a:p>
        </p:txBody>
      </p:sp>
      <p:sp>
        <p:nvSpPr>
          <p:cNvPr id="342" name="Google Shape;342;p41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Ferramentas para a escolha de paleta de cores: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	</a:t>
            </a:r>
            <a:r>
              <a:rPr lang="pt-BR" u="sng">
                <a:solidFill>
                  <a:schemeClr val="hlink"/>
                </a:solidFill>
                <a:hlinkClick r:id="rId3"/>
              </a:rPr>
              <a:t>www.brandcolors.net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	</a:t>
            </a:r>
            <a:r>
              <a:rPr lang="pt-BR" u="sng">
                <a:solidFill>
                  <a:schemeClr val="hlink"/>
                </a:solidFill>
                <a:hlinkClick r:id="rId4"/>
              </a:rPr>
              <a:t>www.lokeshdhakar.com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	</a:t>
            </a:r>
            <a:r>
              <a:rPr lang="pt-BR" u="sng">
                <a:solidFill>
                  <a:schemeClr val="hlink"/>
                </a:solidFill>
                <a:hlinkClick r:id="rId5"/>
              </a:rPr>
              <a:t>www.colorhunt.co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	</a:t>
            </a:r>
            <a:r>
              <a:rPr lang="pt-BR" u="sng">
                <a:solidFill>
                  <a:schemeClr val="hlink"/>
                </a:solidFill>
                <a:hlinkClick r:id="rId6"/>
              </a:rPr>
              <a:t>www.webgradients.com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pt-BR"/>
              <a:t>	</a:t>
            </a:r>
            <a:endParaRPr/>
          </a:p>
        </p:txBody>
      </p:sp>
      <p:sp>
        <p:nvSpPr>
          <p:cNvPr id="343" name="Google Shape;343;p4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2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Briefing</a:t>
            </a:r>
            <a:endParaRPr/>
          </a:p>
        </p:txBody>
      </p:sp>
      <p:sp>
        <p:nvSpPr>
          <p:cNvPr id="349" name="Google Shape;349;p42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 acordo com o dicionário Michaelis, briefing significa: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“Ato de transmitir informações básicas, instruções, normas etc., elaborado de forma concisa, para orientar a execução de um determinado trabalho”.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Na área da publicidade e design, briefing é um documento que contém todos os dados que o cliente fornece a uma empresa para o desenvolvimento de um trabalho;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Contém informações como: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Dados de uma empresa;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Onde ela atua;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Público ao qual ela se direciona e objetivos com o projeto.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4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3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Briefing</a:t>
            </a:r>
            <a:endParaRPr/>
          </a:p>
        </p:txBody>
      </p:sp>
      <p:sp>
        <p:nvSpPr>
          <p:cNvPr id="356" name="Google Shape;356;p43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Como um briefing é realizado?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O briefing é criado a partir de um questionário em que o cliente responde à algumas perguntas;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Preferencialmente, o encontro deve ser presencial;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Caso não seja possível, existem outras formas de realizar a abordagem: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Briefings por e-mail;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Conversa por outras plataformas de troca de mensagem;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Videoconferência</a:t>
            </a:r>
            <a:r>
              <a:rPr lang="pt-BR"/>
              <a:t>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Sistema Web para briefings.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4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Briefing</a:t>
            </a:r>
            <a:endParaRPr/>
          </a:p>
        </p:txBody>
      </p:sp>
      <p:sp>
        <p:nvSpPr>
          <p:cNvPr id="363" name="Google Shape;363;p44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briefing pode ser dividido em duas etapas: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Briefing preliminar;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Briefing complementar.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5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Briefing</a:t>
            </a:r>
            <a:endParaRPr/>
          </a:p>
        </p:txBody>
      </p:sp>
      <p:sp>
        <p:nvSpPr>
          <p:cNvPr id="370" name="Google Shape;370;p45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Briefing preliminar: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Realização de um primeiro contato com o cliente;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Tentar captar ao máximo o que está oculto;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Perguntas de caráter mais geral: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Público-alvo;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Objetivos do site;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O que a empresa quer passar para seus clientes;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Análise de concorrência.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4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6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Briefing</a:t>
            </a:r>
            <a:endParaRPr/>
          </a:p>
        </p:txBody>
      </p:sp>
      <p:sp>
        <p:nvSpPr>
          <p:cNvPr id="377" name="Google Shape;377;p46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Brefing complementar: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Realizado posteriormente ao briefing preliminar;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Detalhar tudo que foi aprendido sobre o negócio do seu potencial cliente;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Mais perguntas devem ser realizadas para uma análise mais profunda;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Esta fase pode ser dividida em seções: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pt-BR"/>
              <a:t>Estratégia;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pt-BR"/>
              <a:t>Informações gerais;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pt-BR"/>
              <a:t>Público-alvo;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pt-BR"/>
              <a:t>Conteúdo;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pt-BR"/>
              <a:t>Aparência do site;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pt-BR"/>
              <a:t>Outras informações necessárias.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3 a 6 perguntas por seção, geralmente, é suficiente.</a:t>
            </a:r>
            <a:endParaRPr/>
          </a:p>
        </p:txBody>
      </p:sp>
      <p:sp>
        <p:nvSpPr>
          <p:cNvPr id="378" name="Google Shape;378;p4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7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Arquitetura da Informação</a:t>
            </a:r>
            <a:endParaRPr/>
          </a:p>
        </p:txBody>
      </p:sp>
      <p:sp>
        <p:nvSpPr>
          <p:cNvPr id="384" name="Google Shape;384;p47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“</a:t>
            </a:r>
            <a:r>
              <a:rPr lang="pt-BR"/>
              <a:t>A Arquitetura da Informação (AI) refere-se ao desenho das informações: como textos, imagens e sons são apresentados na tela do computador, a classificação dessas informações em agrupamentos de acordo com os objetivos do site e das necessidades do usuário, bem como a construção de estrutura de navegação e de busca de informações, isto é, os caminhos que o usuário poderá percorrer para chegar até a informação.”</a:t>
            </a:r>
            <a:endParaRPr/>
          </a:p>
          <a:p>
            <a:pPr indent="0" lvl="0" marL="0" rtl="0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(STRAIOTO, 2002 apud VIDOTTI; SANCHES, 2004)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4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8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Arquitetura da Informação</a:t>
            </a:r>
            <a:endParaRPr/>
          </a:p>
        </p:txBody>
      </p:sp>
      <p:sp>
        <p:nvSpPr>
          <p:cNvPr id="391" name="Google Shape;391;p48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Resumindo:</a:t>
            </a:r>
            <a:endParaRPr/>
          </a:p>
          <a:p>
            <a:pPr indent="-311150" lvl="0" marL="457200" rtl="0" algn="l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A AI é o processo pelo qual o site tem o seu conteúdo dividido em partes, organizando-o hierarquicamente de um modo lógico;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A AI está intimamente ligada à navegação do site;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pt-BR"/>
              <a:t>A partir dos dados coletados no briefing e em discussão com o cliente, a organização do conteúdo poderá ser realizada.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4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9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Arquitetura da Informação</a:t>
            </a:r>
            <a:endParaRPr/>
          </a:p>
        </p:txBody>
      </p:sp>
      <p:sp>
        <p:nvSpPr>
          <p:cNvPr id="398" name="Google Shape;398;p49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Uma ferramenta bastante utilizada para a criação da AI é o diagrama de árvore: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4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http://portaldobibliotecario.com/wp-content/uploads/2017/01/exemplo-de-arquitetura-de-informacao.jpg" id="400" name="Google Shape;400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500" y="2163650"/>
            <a:ext cx="3559325" cy="275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7596" y="2756625"/>
            <a:ext cx="3859424" cy="210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0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Esboço do Website</a:t>
            </a:r>
            <a:endParaRPr/>
          </a:p>
        </p:txBody>
      </p:sp>
      <p:sp>
        <p:nvSpPr>
          <p:cNvPr id="407" name="Google Shape;407;p50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Antes de codificar o website é interessante fazer um esboço do que será o website;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O esboço permite que o tempo destinado à codificação seja reduzido;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O ideal é que os primeiros esboços sejam desenhados em preto e branco no papel. Isso ajuda a manter o foco no layout do site.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5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1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Esboço do Website</a:t>
            </a:r>
            <a:endParaRPr/>
          </a:p>
        </p:txBody>
      </p:sp>
      <p:sp>
        <p:nvSpPr>
          <p:cNvPr id="414" name="Google Shape;414;p51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5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16" name="Google Shape;416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69701" y="1622387"/>
            <a:ext cx="2372400" cy="213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62369" y="1625200"/>
            <a:ext cx="2330806" cy="213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8" name="Google Shape;418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0975" y="1628025"/>
            <a:ext cx="2183219" cy="213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5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28202" y="1614798"/>
            <a:ext cx="2183226" cy="2150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52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Wireframe</a:t>
            </a:r>
            <a:endParaRPr/>
          </a:p>
        </p:txBody>
      </p:sp>
      <p:sp>
        <p:nvSpPr>
          <p:cNvPr id="425" name="Google Shape;425;p52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Após definir um layout para o site é interessante testar como as cores podem combinar;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Wireframes podem ser utilizados para testar algumas variações;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Storyboard é uma técnica muito utilizada em animações, onde pequenos esboços são criados para produzirem o efeito de animação, como uma história em quadrinho;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No web design, esta técnica pode ser utilizada para criar duas ou três combinações de cores para aprovação do cliente;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/>
              <a:t>Pequenas alterações no layout podem ser realizadas, como posicionamento de alguns elementos, por exemplo.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5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53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Wireframe</a:t>
            </a:r>
            <a:endParaRPr/>
          </a:p>
        </p:txBody>
      </p:sp>
      <p:sp>
        <p:nvSpPr>
          <p:cNvPr id="432" name="Google Shape;432;p53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5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34" name="Google Shape;434;p53"/>
          <p:cNvSpPr txBox="1"/>
          <p:nvPr/>
        </p:nvSpPr>
        <p:spPr>
          <a:xfrm>
            <a:off x="693297" y="4792663"/>
            <a:ext cx="12573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23/05/2019</a:t>
            </a:r>
            <a:endParaRPr b="1" sz="1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53"/>
          <p:cNvSpPr txBox="1"/>
          <p:nvPr/>
        </p:nvSpPr>
        <p:spPr>
          <a:xfrm>
            <a:off x="2112268" y="4794423"/>
            <a:ext cx="58605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 Design: Estudo das Cores</a:t>
            </a:r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53"/>
          <p:cNvSpPr txBox="1"/>
          <p:nvPr/>
        </p:nvSpPr>
        <p:spPr>
          <a:xfrm>
            <a:off x="8104056" y="4792663"/>
            <a:ext cx="645600" cy="23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pt-BR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7" name="Google Shape;43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2805356" y="1394019"/>
            <a:ext cx="2535300" cy="3611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53"/>
          <p:cNvSpPr txBox="1"/>
          <p:nvPr/>
        </p:nvSpPr>
        <p:spPr>
          <a:xfrm>
            <a:off x="2015852" y="1548149"/>
            <a:ext cx="2148600" cy="439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62500"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Logo movida para trás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 seção do conteúdo principal</a:t>
            </a:r>
            <a:endParaRPr/>
          </a:p>
        </p:txBody>
      </p:sp>
      <p:sp>
        <p:nvSpPr>
          <p:cNvPr id="439" name="Google Shape;439;p53"/>
          <p:cNvSpPr txBox="1"/>
          <p:nvPr/>
        </p:nvSpPr>
        <p:spPr>
          <a:xfrm>
            <a:off x="4520567" y="1548148"/>
            <a:ext cx="1444500" cy="439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62500"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Esboço preliminar da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vista de uma cidade.</a:t>
            </a:r>
            <a:endParaRPr/>
          </a:p>
        </p:txBody>
      </p:sp>
      <p:sp>
        <p:nvSpPr>
          <p:cNvPr id="440" name="Google Shape;440;p53"/>
          <p:cNvSpPr txBox="1"/>
          <p:nvPr/>
        </p:nvSpPr>
        <p:spPr>
          <a:xfrm>
            <a:off x="5805539" y="2370692"/>
            <a:ext cx="1914000" cy="512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62500"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Espaço destinado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para navegação e novidades</a:t>
            </a:r>
            <a:endParaRPr/>
          </a:p>
        </p:txBody>
      </p:sp>
      <p:sp>
        <p:nvSpPr>
          <p:cNvPr id="441" name="Google Shape;441;p53"/>
          <p:cNvSpPr txBox="1"/>
          <p:nvPr/>
        </p:nvSpPr>
        <p:spPr>
          <a:xfrm>
            <a:off x="5805539" y="3326363"/>
            <a:ext cx="1392300" cy="512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62500"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Esboço de espaço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destinado para texto</a:t>
            </a:r>
            <a:endParaRPr/>
          </a:p>
        </p:txBody>
      </p:sp>
      <p:sp>
        <p:nvSpPr>
          <p:cNvPr id="442" name="Google Shape;442;p53"/>
          <p:cNvSpPr txBox="1"/>
          <p:nvPr/>
        </p:nvSpPr>
        <p:spPr>
          <a:xfrm>
            <a:off x="5268889" y="4282033"/>
            <a:ext cx="1392300" cy="512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55000" lnSpcReduction="10000"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Ideia de cor que será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definida para o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background da página</a:t>
            </a:r>
            <a:endParaRPr/>
          </a:p>
        </p:txBody>
      </p:sp>
      <p:sp>
        <p:nvSpPr>
          <p:cNvPr id="443" name="Google Shape;443;p53"/>
          <p:cNvSpPr txBox="1"/>
          <p:nvPr/>
        </p:nvSpPr>
        <p:spPr>
          <a:xfrm>
            <a:off x="2433723" y="4282033"/>
            <a:ext cx="1620000" cy="2778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62500"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Imagens dos portfólios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4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Wireframe</a:t>
            </a:r>
            <a:endParaRPr/>
          </a:p>
        </p:txBody>
      </p:sp>
      <p:sp>
        <p:nvSpPr>
          <p:cNvPr id="449" name="Google Shape;449;p54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Após a aprovação do Wireframe, um protótipo pode ser criado e mostrado para o cliente: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5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51" name="Google Shape;45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2776" y="2209427"/>
            <a:ext cx="4538449" cy="268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5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Wireframe</a:t>
            </a:r>
            <a:endParaRPr/>
          </a:p>
        </p:txBody>
      </p:sp>
      <p:sp>
        <p:nvSpPr>
          <p:cNvPr id="457" name="Google Shape;457;p55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Sequências de comandos em uma tela também podem ser representados utilizando Wireframe.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5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descr="Sketch Web Design Development Free Kit Template Storyboard Templates For Website App Illustrator Mobile K" id="459" name="Google Shape;45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027" y="1975149"/>
            <a:ext cx="5634651" cy="300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56"/>
          <p:cNvSpPr txBox="1"/>
          <p:nvPr>
            <p:ph type="title"/>
          </p:nvPr>
        </p:nvSpPr>
        <p:spPr>
          <a:xfrm>
            <a:off x="729450" y="8614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465" name="Google Shape;465;p56"/>
          <p:cNvSpPr txBox="1"/>
          <p:nvPr>
            <p:ph idx="1" type="body"/>
          </p:nvPr>
        </p:nvSpPr>
        <p:spPr>
          <a:xfrm>
            <a:off x="729450" y="1621675"/>
            <a:ext cx="7688700" cy="312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/>
              <a:t>Freepik, Disponível em: &lt;www.freepik.com&gt;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/>
              <a:t>Lucas Assis, </a:t>
            </a:r>
            <a:r>
              <a:rPr b="1" lang="pt-BR" sz="1100"/>
              <a:t>UI Design: Design de Interfaces com foco em Projetos Web</a:t>
            </a:r>
            <a:r>
              <a:rPr lang="pt-BR" sz="1100"/>
              <a:t>, Udemy; Disponível em: &lt;https://www.udemy.com/course/design-de-interfaces-web/&gt;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/>
              <a:t>NUNES, M. C. </a:t>
            </a:r>
            <a:r>
              <a:rPr b="1" lang="pt-BR" sz="1100"/>
              <a:t>Os princípios do design em User Interface</a:t>
            </a:r>
            <a:r>
              <a:rPr lang="pt-BR" sz="1100"/>
              <a:t>, 2015. Disponível em: &lt;</a:t>
            </a:r>
            <a:r>
              <a:rPr lang="pt-BR" sz="1100" u="sng">
                <a:solidFill>
                  <a:schemeClr val="hlink"/>
                </a:solidFill>
                <a:hlinkClick r:id="rId3"/>
              </a:rPr>
              <a:t>https://medium.com/ui-lab-school/os-princ%C3%ADpios-do-design-em-user-interface-80f300cb81e0#:~:text=um%20bom%20design.-,Eixo,identificado%20como%20uma%20linha%20vermelha</a:t>
            </a:r>
            <a:r>
              <a:rPr lang="pt-BR" sz="1100"/>
              <a:t>.&gt;. Acesso em: 28 de out. 2020.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/>
              <a:t>http://michaelis.uol.com.br/busca?r=0&amp;f=0&amp;t=0&amp;palavra=briefing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 u="sng">
                <a:solidFill>
                  <a:schemeClr val="hlink"/>
                </a:solidFill>
                <a:hlinkClick r:id="rId4"/>
              </a:rPr>
              <a:t>https://desenvolvimentoparaweb.com/miscelanea/briefing-para-desenvolvimento-de-web-sites-consideracoes-dicas-e-modelos/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BR" sz="1100"/>
              <a:t>DAMASCENO, A. Webdesign: Teoria e Prática. Florianópolis: Visual Books, 2003.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5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