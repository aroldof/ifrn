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8F17FF-F74B-4EC7-9E9E-4C291BAE7443}">
  <a:tblStyle styleId="{DA8F17FF-F74B-4EC7-9E9E-4C291BAE74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aleway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aleway-italic.fntdata"/><Relationship Id="rId12" Type="http://schemas.openxmlformats.org/officeDocument/2006/relationships/slide" Target="slides/slide6.xml"/><Relationship Id="rId34" Type="http://schemas.openxmlformats.org/officeDocument/2006/relationships/font" Target="fonts/Raleway-bold.fntdata"/><Relationship Id="rId15" Type="http://schemas.openxmlformats.org/officeDocument/2006/relationships/slide" Target="slides/slide9.xml"/><Relationship Id="rId37" Type="http://schemas.openxmlformats.org/officeDocument/2006/relationships/font" Target="fonts/Lato-regular.fntdata"/><Relationship Id="rId14" Type="http://schemas.openxmlformats.org/officeDocument/2006/relationships/slide" Target="slides/slide8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1.xml"/><Relationship Id="rId39" Type="http://schemas.openxmlformats.org/officeDocument/2006/relationships/font" Target="fonts/Lato-italic.fntdata"/><Relationship Id="rId16" Type="http://schemas.openxmlformats.org/officeDocument/2006/relationships/slide" Target="slides/slide10.xml"/><Relationship Id="rId38" Type="http://schemas.openxmlformats.org/officeDocument/2006/relationships/font" Target="fonts/La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740a4c9f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10740a4c9f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0740a4c9f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10740a4c9f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740a4c9f7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10740a4c9f7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740a4c9f7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10740a4c9f7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0740a4c9f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10740a4c9f7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740a4c9f7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10740a4c9f7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0740a4c9f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10740a4c9f7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0740a4c9f7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10740a4c9f7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740a4c9f7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10740a4c9f7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0740a4c9f7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10740a4c9f7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740a4c9f7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10740a4c9f7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0740a4c9f7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10740a4c9f7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0740a4c9f7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10740a4c9f7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0740a4c9f7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10740a4c9f7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0740a4c9f7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10740a4c9f7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f55ddc7dc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1f55ddc7dc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e31c98c9e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e31c98c9e4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e31c98c9e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e31c98c9e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31c98c9e4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e31c98c9e4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31c98c9e4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e31c98c9e4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e31c98c9e4_0_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e31c98c9e4_0_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e31c98c9e4_0_3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e31c98c9e4_0_3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e31c98c9e4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e31c98c9e4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e31c98c9e4_0_3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e31c98c9e4_0_3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e31c98c9e4_0_3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e31c98c9e4_0_3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D9EAD3">
            <a:alpha val="20310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D9EAD3">
            <a:alpha val="4323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" name="Google Shape;2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830392" y="734056"/>
            <a:ext cx="745763" cy="45826"/>
            <a:chOff x="830392" y="734056"/>
            <a:chExt cx="745763" cy="4582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1366812" y="570539"/>
              <a:ext cx="45826" cy="372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995485" y="568963"/>
              <a:ext cx="45826" cy="37601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7340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8614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325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43604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5" name="Google Shape;55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3" name="Google Shape;6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1" name="Google Shape;8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248581" y="1058667"/>
            <a:ext cx="85992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 sz="2100"/>
            </a:lvl2pPr>
            <a:lvl3pPr indent="-342900" lvl="2" marL="13716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indent="-323850" lvl="3" marL="18288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3" name="Google Shape;93;p13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248574" y="1171870"/>
            <a:ext cx="42663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629150" y="1171870"/>
            <a:ext cx="42186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4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w3schools.com/html/html_layout.asp" TargetMode="External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w3schools.com/css/css_pseudo_classes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43230"/>
          </a:srgbClr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Web Design</a:t>
            </a:r>
            <a:endParaRPr/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Estrutura de uma página web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Páginas Webs existem nas mais diversas formas, dependendo do conteúdo e do design que a criou.</a:t>
            </a:r>
            <a:endParaRPr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3462" y="2187315"/>
            <a:ext cx="3729038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501" y="2219462"/>
            <a:ext cx="4114800" cy="2336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Páginas Webs existem nas mais diversas formas, dependendo do conteúdo e do design que a criou.</a:t>
            </a:r>
            <a:endParaRPr/>
          </a:p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1252" y="2121548"/>
            <a:ext cx="3043932" cy="2941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816" y="2121548"/>
            <a:ext cx="3725984" cy="28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729450" y="1621675"/>
            <a:ext cx="52842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875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Porém, mesmo sendo tão diferentes, ambos utilizam os mesmos elementos básicos para criarem suas estruturas.</a:t>
            </a:r>
            <a:endParaRPr/>
          </a:p>
          <a:p>
            <a:pPr indent="-25400" lvl="0" marL="1651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58750" lvl="0" marL="1651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Estrutura básica de um site:</a:t>
            </a:r>
            <a:endParaRPr/>
          </a:p>
          <a:p>
            <a:pPr indent="-165100" lvl="1" marL="508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/>
              <a:t>Cabeçalho;</a:t>
            </a:r>
            <a:endParaRPr/>
          </a:p>
          <a:p>
            <a:pPr indent="-165100" lvl="1" marL="508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/>
              <a:t>Barra de navegação;</a:t>
            </a:r>
            <a:endParaRPr/>
          </a:p>
          <a:p>
            <a:pPr indent="-165100" lvl="1" marL="508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/>
              <a:t>Conteúdo principal;</a:t>
            </a:r>
            <a:endParaRPr/>
          </a:p>
          <a:p>
            <a:pPr indent="-165100" lvl="1" marL="508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/>
              <a:t>Rodapé.</a:t>
            </a:r>
            <a:endParaRPr/>
          </a:p>
          <a:p>
            <a:pPr indent="-50800" lvl="1" marL="508000" rtl="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5509702" y="4609424"/>
            <a:ext cx="370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Adaptado de: </a:t>
            </a:r>
            <a:r>
              <a:rPr b="0" i="0" lang="pt-BR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https://www.w3schools.com/html/html_layout.asp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8060" y="1171898"/>
            <a:ext cx="2978982" cy="3469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6212750" y="2207575"/>
            <a:ext cx="2709600" cy="183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Conteúdo Principal</a:t>
            </a:r>
            <a:endParaRPr sz="1900"/>
          </a:p>
        </p:txBody>
      </p:sp>
      <p:sp>
        <p:nvSpPr>
          <p:cNvPr id="141" name="Google Shape;141;p18"/>
          <p:cNvSpPr/>
          <p:nvPr/>
        </p:nvSpPr>
        <p:spPr>
          <a:xfrm>
            <a:off x="6330366" y="1338942"/>
            <a:ext cx="2450400" cy="33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Cabeçalho</a:t>
            </a:r>
            <a:endParaRPr sz="1100"/>
          </a:p>
        </p:txBody>
      </p:sp>
      <p:sp>
        <p:nvSpPr>
          <p:cNvPr id="142" name="Google Shape;142;p18"/>
          <p:cNvSpPr/>
          <p:nvPr/>
        </p:nvSpPr>
        <p:spPr>
          <a:xfrm>
            <a:off x="6368467" y="1790698"/>
            <a:ext cx="2450400" cy="33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Barra de navegação</a:t>
            </a:r>
            <a:endParaRPr sz="1100"/>
          </a:p>
        </p:txBody>
      </p:sp>
      <p:sp>
        <p:nvSpPr>
          <p:cNvPr id="143" name="Google Shape;143;p18"/>
          <p:cNvSpPr/>
          <p:nvPr/>
        </p:nvSpPr>
        <p:spPr>
          <a:xfrm>
            <a:off x="6363025" y="4125683"/>
            <a:ext cx="2450400" cy="33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Rodapé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Cabeçalho: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Parte superior de um site em que geralmente ficam o título e/ou logotipo;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Esta parte é comum à todas as páginas de um site;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Barra de navegação: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 barra de navegação é composta por links ou botões que dão acesso às principais páginas de um site;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Assim como o cabeçalho, a barra de navegação está presente na maioria das páginas de um site;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Alguns sites constroem a barra de navegação dentro do cabeçalho;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Conteúdo principal: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Área no centro da página que contém a maior parte do conteúdo de uma página web;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Varia de página para página;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Rodapé: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Conteúdo que fica no final da página, geralmente contendo informações de contato, avisos de direitos autorais ou menu de navegação secundário;</a:t>
            </a:r>
            <a:endParaRPr/>
          </a:p>
        </p:txBody>
      </p:sp>
      <p:sp>
        <p:nvSpPr>
          <p:cNvPr id="171" name="Google Shape;171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pic>
        <p:nvPicPr>
          <p:cNvPr id="177" name="Google Shape;177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1339050" y="1606200"/>
            <a:ext cx="5179800" cy="417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6635646" y="1610517"/>
            <a:ext cx="1079400" cy="41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7776361" y="1610517"/>
            <a:ext cx="13479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Cabeçalho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pic>
        <p:nvPicPr>
          <p:cNvPr id="187" name="Google Shape;187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813625" y="1911000"/>
            <a:ext cx="6240000" cy="417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7223726" y="1915325"/>
            <a:ext cx="548700" cy="41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7685381" y="1915317"/>
            <a:ext cx="1438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62500"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Barra de navegação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pic>
        <p:nvPicPr>
          <p:cNvPr id="197" name="Google Shape;19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813625" y="2292000"/>
            <a:ext cx="4853400" cy="2059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5858250" y="3598100"/>
            <a:ext cx="1788000" cy="41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7646200" y="3472705"/>
            <a:ext cx="14388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Conteúdo principal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uma Página HTML</a:t>
            </a:r>
            <a:endParaRPr/>
          </a:p>
        </p:txBody>
      </p:sp>
      <p:pic>
        <p:nvPicPr>
          <p:cNvPr id="207" name="Google Shape;207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813625" y="4320200"/>
            <a:ext cx="4853400" cy="335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5858250" y="4283900"/>
            <a:ext cx="1788000" cy="41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7646200" y="4310902"/>
            <a:ext cx="1438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Rodapé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Contêineres HTML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Elemento utilizados para agrupar um conjunto de outros elementos do HTML: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/>
              <a:t>header:</a:t>
            </a:r>
            <a:r>
              <a:rPr lang="pt-BR"/>
              <a:t> utilizado para a construção de cabeçalhos de uma página</a:t>
            </a:r>
            <a:r>
              <a:rPr b="1" lang="pt-BR"/>
              <a:t>;</a:t>
            </a:r>
            <a:endParaRPr b="1"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nav: </a:t>
            </a:r>
            <a:r>
              <a:rPr lang="pt-BR"/>
              <a:t>utilizado para a construção de barras de navegação de uma página</a:t>
            </a:r>
            <a:r>
              <a:rPr b="1" lang="pt-BR"/>
              <a:t>;</a:t>
            </a:r>
            <a:endParaRPr b="1"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main: </a:t>
            </a:r>
            <a:r>
              <a:rPr lang="pt-BR"/>
              <a:t>utilizado para a organização do conteúdo principal de uma página</a:t>
            </a:r>
            <a:r>
              <a:rPr b="1" lang="pt-BR"/>
              <a:t>;</a:t>
            </a:r>
            <a:endParaRPr b="1"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section: </a:t>
            </a:r>
            <a:r>
              <a:rPr lang="pt-BR"/>
              <a:t>utilizado para divisão do conteúdo principal em seções</a:t>
            </a:r>
            <a:r>
              <a:rPr b="1" lang="pt-BR"/>
              <a:t>;</a:t>
            </a:r>
            <a:endParaRPr b="1"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footer: </a:t>
            </a:r>
            <a:r>
              <a:rPr lang="pt-BR"/>
              <a:t>utilizado para a construção de rodapés de uma página</a:t>
            </a:r>
            <a:r>
              <a:rPr b="1" lang="pt-BR"/>
              <a:t>;</a:t>
            </a:r>
            <a:endParaRPr b="1"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div: utilizado para agrupar em bloco um conjunto de elementos nas demais situações;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span: utilizado para agrupar elementos em linha.</a:t>
            </a:r>
            <a:endParaRPr/>
          </a:p>
        </p:txBody>
      </p:sp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9" name="Google Shape;219;p27"/>
          <p:cNvSpPr txBox="1"/>
          <p:nvPr/>
        </p:nvSpPr>
        <p:spPr>
          <a:xfrm>
            <a:off x="6429475" y="2927050"/>
            <a:ext cx="176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HTML5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6125250" y="2235700"/>
            <a:ext cx="205200" cy="1782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Contêineres HTML</a:t>
            </a:r>
            <a:endParaRPr/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div: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067" y="2139586"/>
            <a:ext cx="8826923" cy="285713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Contêineres HTML</a:t>
            </a:r>
            <a:endParaRPr/>
          </a:p>
        </p:txBody>
      </p:sp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div: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2223540"/>
            <a:ext cx="3683307" cy="111070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2225" y="2223540"/>
            <a:ext cx="4408054" cy="260735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Contêineres HTML</a:t>
            </a:r>
            <a:endParaRPr/>
          </a:p>
        </p:txBody>
      </p:sp>
      <p:sp>
        <p:nvSpPr>
          <p:cNvPr id="243" name="Google Shape;243;p3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span: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44" name="Google Shape;24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067" y="3593682"/>
            <a:ext cx="3513128" cy="131974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5" name="Google Shape;24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114" y="2081412"/>
            <a:ext cx="6958013" cy="1057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2709" y="3593682"/>
            <a:ext cx="4970110" cy="131974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Renderização dos Elementos HTML</a:t>
            </a:r>
            <a:endParaRPr/>
          </a:p>
        </p:txBody>
      </p:sp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elementos em HTML podem assumir dois tipos de organização: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Elementos em bloco:</a:t>
            </a:r>
            <a:r>
              <a:rPr lang="pt-BR"/>
              <a:t> são todos os elementos que, por padrão, começam no início da linha e ocupam a largura completa da página;</a:t>
            </a:r>
            <a:endParaRPr/>
          </a:p>
          <a:p>
            <a:pPr indent="0" lvl="0" marL="9144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Exemplos de elementos em bloco:</a:t>
            </a:r>
            <a:endParaRPr/>
          </a:p>
          <a:p>
            <a:pPr indent="-50800" lvl="0" marL="850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13716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h1, h2, ... h6, table, ul, li, ol, p etc.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Elementos em linha:</a:t>
            </a:r>
            <a:r>
              <a:rPr lang="pt-BR"/>
              <a:t> são todos os elementos que, por padrão, não necessariamente inicia no início da página e ocupa apenas a largura necessária.</a:t>
            </a:r>
            <a:endParaRPr sz="1100"/>
          </a:p>
          <a:p>
            <a:pPr indent="0" lvl="0" marL="13716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Exemplos de elementos em linha:</a:t>
            </a:r>
            <a:endParaRPr/>
          </a:p>
          <a:p>
            <a:pPr indent="0" lvl="0" marL="18288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pt-BR"/>
              <a:t>a, img, em, strong etc.</a:t>
            </a:r>
            <a:endParaRPr/>
          </a:p>
        </p:txBody>
      </p:sp>
      <p:sp>
        <p:nvSpPr>
          <p:cNvPr id="254" name="Google Shape;254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Renderização dos Elementos HTML</a:t>
            </a:r>
            <a:endParaRPr/>
          </a:p>
        </p:txBody>
      </p:sp>
      <p:sp>
        <p:nvSpPr>
          <p:cNvPr id="260" name="Google Shape;260;p3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disposição dos elementos pode ser modificada utilizando a propriedade </a:t>
            </a:r>
            <a:r>
              <a:rPr b="1" lang="pt-BR"/>
              <a:t>display</a:t>
            </a:r>
            <a:r>
              <a:rPr lang="pt-BR"/>
              <a:t>;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Alguns valores: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block;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inline;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pt-BR"/>
              <a:t>none.</a:t>
            </a:r>
            <a:endParaRPr/>
          </a:p>
        </p:txBody>
      </p: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Renderização</a:t>
            </a:r>
            <a:r>
              <a:rPr lang="pt-BR"/>
              <a:t> dos Elementos HTML</a:t>
            </a:r>
            <a:endParaRPr/>
          </a:p>
        </p:txBody>
      </p:sp>
      <p:sp>
        <p:nvSpPr>
          <p:cNvPr id="267" name="Google Shape;267;p3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Inline: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pt-BR"/>
              <a:t>Modifica a organização dos elementos em bloco para em linha.</a:t>
            </a:r>
            <a:endParaRPr/>
          </a:p>
        </p:txBody>
      </p:sp>
      <p:pic>
        <p:nvPicPr>
          <p:cNvPr id="268" name="Google Shape;26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12" y="2357438"/>
            <a:ext cx="6700838" cy="1343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9" name="Google Shape;26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579" y="3952282"/>
            <a:ext cx="2578894" cy="885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0" name="Google Shape;27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0422" y="4188025"/>
            <a:ext cx="2750344" cy="4143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1" name="Google Shape;271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6636" y="2450706"/>
            <a:ext cx="5262968" cy="4143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7" name="Google Shape;27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0827" y="3423038"/>
            <a:ext cx="2954586" cy="10427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8" name="Google Shape;278;p3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Renderização</a:t>
            </a:r>
            <a:r>
              <a:rPr lang="pt-BR"/>
              <a:t> dos Elementos HTML</a:t>
            </a:r>
            <a:endParaRPr/>
          </a:p>
        </p:txBody>
      </p:sp>
      <p:sp>
        <p:nvSpPr>
          <p:cNvPr id="279" name="Google Shape;279;p3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block: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pt-BR"/>
              <a:t>Modifica a organização dos elementos em linha para bloco.</a:t>
            </a:r>
            <a:endParaRPr/>
          </a:p>
        </p:txBody>
      </p:sp>
      <p:sp>
        <p:nvSpPr>
          <p:cNvPr id="280" name="Google Shape;280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Renderização </a:t>
            </a:r>
            <a:r>
              <a:rPr lang="pt-BR"/>
              <a:t>dos Elementos HTML</a:t>
            </a:r>
            <a:endParaRPr/>
          </a:p>
        </p:txBody>
      </p:sp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none: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pt-BR"/>
              <a:t>O elemento ficará oculto e o layout da página será exibido como se ele não existisse:</a:t>
            </a:r>
            <a:endParaRPr/>
          </a:p>
        </p:txBody>
      </p:sp>
      <p:pic>
        <p:nvPicPr>
          <p:cNvPr id="287" name="Google Shape;2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8174" y="3888821"/>
            <a:ext cx="4675207" cy="849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8" name="Google Shape;28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994" y="2396403"/>
            <a:ext cx="6958013" cy="1057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9" name="Google Shape;28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239" y="3927670"/>
            <a:ext cx="2652848" cy="92720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0" name="Google Shape;290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pt-BR" sz="3500"/>
              <a:t>Combinação de Seletores</a:t>
            </a:r>
            <a:endParaRPr/>
          </a:p>
        </p:txBody>
      </p:sp>
      <p:sp>
        <p:nvSpPr>
          <p:cNvPr id="296" name="Google Shape;296;p3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seletores CSS podem ser combinados para que apenas alguns elementos sejam afetados;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Seletores descendentes: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Os seletores descendentes selecionam todos os elementos contidos em um elemento específico.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Seletores filhos: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Seleciona todos os elementos que são filhos de um elemento específico.</a:t>
            </a:r>
            <a:endParaRPr/>
          </a:p>
          <a:p>
            <a:pPr indent="0" lvl="1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97" name="Google Shape;297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pt-BR" sz="3500"/>
              <a:t>Combinação de Seletores</a:t>
            </a:r>
            <a:endParaRPr/>
          </a:p>
        </p:txBody>
      </p:sp>
      <p:sp>
        <p:nvSpPr>
          <p:cNvPr id="303" name="Google Shape;303;p3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Exemplo de seletores descendentes: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5" name="Google Shape;3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075" y="3922548"/>
            <a:ext cx="3331444" cy="11042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6" name="Google Shape;30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0421" y="3660057"/>
            <a:ext cx="4136729" cy="147454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7" name="Google Shape;30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9860" y="2006500"/>
            <a:ext cx="6536518" cy="14568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pt-BR" sz="3500"/>
              <a:t>Combinação de Seletores</a:t>
            </a:r>
            <a:endParaRPr/>
          </a:p>
        </p:txBody>
      </p:sp>
      <p:sp>
        <p:nvSpPr>
          <p:cNvPr id="313" name="Google Shape;313;p38"/>
          <p:cNvSpPr txBox="1"/>
          <p:nvPr>
            <p:ph idx="1" type="body"/>
          </p:nvPr>
        </p:nvSpPr>
        <p:spPr>
          <a:xfrm>
            <a:off x="727650" y="162102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Exemplo de seletores filhos: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314" name="Google Shape;314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5" name="Google Shape;31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882" y="2053828"/>
            <a:ext cx="6536531" cy="14930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6" name="Google Shape;31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067" y="3837528"/>
            <a:ext cx="3398872" cy="11401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7" name="Google Shape;31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6547" y="3726645"/>
            <a:ext cx="3398872" cy="13508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pt-BR" sz="3500"/>
              <a:t>Pseudo-classes</a:t>
            </a:r>
            <a:endParaRPr sz="3500"/>
          </a:p>
        </p:txBody>
      </p:sp>
      <p:sp>
        <p:nvSpPr>
          <p:cNvPr id="323" name="Google Shape;323;p3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Pseudo-classes são utilizadas para definir o estado de elementos;</a:t>
            </a:r>
            <a:endParaRPr/>
          </a:p>
          <a:p>
            <a:pPr indent="-254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Link já visitado, o comportamento de um link quando o mouse passa por cima, entre outros.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Sintaxe:</a:t>
            </a:r>
            <a:endParaRPr/>
          </a:p>
          <a:p>
            <a:pPr indent="0" lvl="1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pt-BR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elemento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:pseudo-class{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54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324" name="Google Shape;324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pt-BR" sz="3500"/>
              <a:t>Pseudo-classes</a:t>
            </a:r>
            <a:endParaRPr sz="3500"/>
          </a:p>
        </p:txBody>
      </p:sp>
      <p:sp>
        <p:nvSpPr>
          <p:cNvPr id="330" name="Google Shape;330;p4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Pseudo-classes: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Outras pseudo-classes: </a:t>
            </a:r>
            <a:endParaRPr/>
          </a:p>
          <a:p>
            <a:pPr indent="-1714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https://www.w3schools.com/css/css_pseudo_classes.asp</a:t>
            </a:r>
            <a:endParaRPr/>
          </a:p>
        </p:txBody>
      </p:sp>
      <p:sp>
        <p:nvSpPr>
          <p:cNvPr id="331" name="Google Shape;331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32" name="Google Shape;332;p40"/>
          <p:cNvGraphicFramePr/>
          <p:nvPr/>
        </p:nvGraphicFramePr>
        <p:xfrm>
          <a:off x="950391" y="19093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{DA8F17FF-F74B-4EC7-9E9E-4C291BAE7443}</a:tableStyleId>
              </a:tblPr>
              <a:tblGrid>
                <a:gridCol w="1754525"/>
                <a:gridCol w="481710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Pseudo-classe</a:t>
                      </a:r>
                      <a:endParaRPr sz="15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Ação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hover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aplica o CSS quando o mouse está sobre o elemento.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visited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Aplica o css quando o link já foi visitado.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link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Aplica o css quando o link ainda não foi visitado.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active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Aplica o css enquanto o elemento está sendo clicado.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first-child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434343"/>
                          </a:solidFill>
                        </a:rPr>
                        <a:t>Aplica o css ao primeiro filho de um determinado elemento</a:t>
                      </a:r>
                      <a:endParaRPr sz="1100">
                        <a:solidFill>
                          <a:srgbClr val="434343"/>
                        </a:solidFill>
                      </a:endParaRPr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