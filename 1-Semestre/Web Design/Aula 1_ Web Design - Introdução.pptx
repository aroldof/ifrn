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aleway"/>
      <p:regular r:id="rId51"/>
      <p:bold r:id="rId52"/>
      <p:italic r:id="rId53"/>
      <p:boldItalic r:id="rId54"/>
    </p:embeddedFont>
    <p:embeddedFont>
      <p:font typeface="La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regular.fntdata"/><Relationship Id="rId50" Type="http://schemas.openxmlformats.org/officeDocument/2006/relationships/slide" Target="slides/slide45.xml"/><Relationship Id="rId53" Type="http://schemas.openxmlformats.org/officeDocument/2006/relationships/font" Target="fonts/Raleway-italic.fntdata"/><Relationship Id="rId52" Type="http://schemas.openxmlformats.org/officeDocument/2006/relationships/font" Target="fonts/Raleway-bold.fntdata"/><Relationship Id="rId11" Type="http://schemas.openxmlformats.org/officeDocument/2006/relationships/slide" Target="slides/slide6.xml"/><Relationship Id="rId55" Type="http://schemas.openxmlformats.org/officeDocument/2006/relationships/font" Target="fonts/Lato-regular.fntdata"/><Relationship Id="rId10" Type="http://schemas.openxmlformats.org/officeDocument/2006/relationships/slide" Target="slides/slide5.xml"/><Relationship Id="rId54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57" Type="http://schemas.openxmlformats.org/officeDocument/2006/relationships/font" Target="fonts/Lato-italic.fntdata"/><Relationship Id="rId12" Type="http://schemas.openxmlformats.org/officeDocument/2006/relationships/slide" Target="slides/slide7.xml"/><Relationship Id="rId56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f3cd16c67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f3cd16c67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df3cd16c67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df3cd16c67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f3cd16c67_0_3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df3cd16c67_0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f3cd16c6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df3cd16c6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bf8ade4bb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2bbf8ade4bb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f3cd16c6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df3cd16c6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f3cd16c67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df3cd16c67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f3cd16c6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df3cd16c6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f3cd16c6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df3cd16c6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bf8ade4bb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2bbf8ade4bb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df3cd16c67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df3cd16c67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bf8ade4bb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bbf8ade4bb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df3cd16c67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df3cd16c67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df3cd16c67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df3cd16c67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df3cd16c67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f3cd16c67_0_3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df3cd16c67_0_3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df3cd16c67_0_3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df3cd16c67_0_3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df3cd16c67_0_3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df3cd16c67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df3cd16c67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f3cd16c67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df3cd16c67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09ca8f7acb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09ca8f7acb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09ca8f7ac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09ca8f7ac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f3cd16c67_0_4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df3cd16c67_0_4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f3cd16c67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df3cd16c67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df3cd16c67_0_4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df3cd16c67_0_4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f3cd16c67_0_4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df3cd16c67_0_4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df3cd16c67_0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df3cd16c67_0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df3cd16c67_0_4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df3cd16c67_0_4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f3cd16c67_0_4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df3cd16c67_0_4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df3cd16c67_0_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df3cd16c67_0_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f3cd16c67_0_5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df3cd16c67_0_5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f3cd16c67_0_5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df3cd16c67_0_5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3cd16c67_0_5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df3cd16c67_0_5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df3cd16c67_0_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df3cd16c67_0_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f3cd16c67_0_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df3cd16c67_0_5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df3cd16c67_0_5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df3cd16c67_0_5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f3cd16c67_0_5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df3cd16c67_0_5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df3cd16c67_0_5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df3cd16c67_0_5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df3cd16c67_0_5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df3cd16c67_0_5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df3cd16c67_0_5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df3cd16c67_0_5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df3cd16c67_0_5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df3cd16c67_0_5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df3cd16c67_0_6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df3cd16c67_0_6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f2f396d20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1f2f396d20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df3cd16c67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df3cd16c67_0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f2f396d20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1f2f396d20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df3cd16c67_0_6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df3cd16c67_0_6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9EAD3">
            <a:alpha val="2031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9EAD3">
            <a:alpha val="4323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" name="Google Shape;2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734056"/>
            <a:ext cx="745763" cy="45826"/>
            <a:chOff x="830392" y="734056"/>
            <a:chExt cx="745763" cy="4582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1366812" y="570539"/>
              <a:ext cx="45826" cy="372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995485" y="568963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7340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61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4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248581" y="1058667"/>
            <a:ext cx="85992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248574" y="1171870"/>
            <a:ext cx="42663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629150" y="1171870"/>
            <a:ext cx="42186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AABqPceCwZk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://www.youtube.com/watch?v=kDy62zaCHZE" TargetMode="External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info.cern.ch/hypertext/WWW/TheProject.html" TargetMode="External"/><Relationship Id="rId4" Type="http://schemas.openxmlformats.org/officeDocument/2006/relationships/hyperlink" Target="http://info.cern.ch/hypertext/WWW/TheProject.html" TargetMode="External"/><Relationship Id="rId5" Type="http://schemas.openxmlformats.org/officeDocument/2006/relationships/hyperlink" Target="http://info.cern.ch/hypertext/WWW/TheProject.html" TargetMode="External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w3schools.com/html/default.asp" TargetMode="External"/><Relationship Id="rId4" Type="http://schemas.openxmlformats.org/officeDocument/2006/relationships/hyperlink" Target="https://developer.mozilla.org/en-US/docs/Learn/HTML/Introduction_to_HTML/HTML_text_fundamenta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43230"/>
          </a:srgbClr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Introdução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2"/>
                </a:solidFill>
              </a:rPr>
              <a:t>Como Funciona a Internet</a:t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Como Funciona a Internet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Video explicando como a internet funciona!&#10;&#10;Como Funciona a energia solar: https://www.youtube.com/watch?v=ilpVP-loDak&#10;&#10;Materiais utilizados nos videos:&#10;0:35 https://www.youtube.com/watch?v=31LE0bPLrhM&#10;1:24 https://www.youtube.com/watch?v=9YLN4zncxyg&#10;2:34 https://www.youtube.com/watch?v=ZUxPW0H3TMU" id="126" name="Google Shape;126;p17" title="Como Funciona a Internet?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9200" y="16216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Como Funciona o Navegador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Resultado de imagem para navegadores web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4225" y="551851"/>
            <a:ext cx="1350775" cy="88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érgio Lopes explica o que acontece por baixo dos panos dos browsers mais usados como Google Chrome, Safari, Firefox e outros. Veja como funciona request e response, https e mais! Aprenda a construir sites na Alura: http://bit.ly/desenvolvimento-web-formacao&#10;&#10;Twitter do Sérgio: https://twitter.com/sergio_caelum&#10;Twitter do Paulo: https://twitter.com/paulo_caelum&#10;&#10;😉 Gostou do vídeo? Confira também:&#10;&#10;▶ Como deixar meu site mais rápido? Performance Web&#10;https://bit.ly/performance-web-site-mais-rapido&#10;&#10;▶ Saia do zero até suas primeiras páginas na web!&#10;https://bit.ly/primeiras-paginas-web&#10;&#10;👩‍💻 Conheça nossa escola de programação: https://www.alura.com.br/escola-programacao&#10;&#10;🎧 Podcast &#10;https://hipsters.tech/&#10;&#10;💻 Quer saber sobre as novidades do universo da tecnologia e semanas de conteúdo gratuito da Alura? https://www.alura.com.br/imersao&#10;&#10;📲 Acompanhe a gente pelas redes sociais:&#10;Facebook: https://www.facebook.com/AluraCursosOnline&#10;Instagram: https://www.instagram.com/aluraonline&#10;Twitter: https://twitter.com/AluraOnline" id="135" name="Google Shape;135;p18" title="Como funcionam os navegadores Web? #HipstersPontoTube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5950" y="16216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Origem da Internet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Internet de hoje foi originada da ARPAnet, primeira rede de computadores criada na década de 1960;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Várias outras redes foram criadas em paralelo, após a divulgação da existência da ARPAnet;</a:t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Desenvolvimento do protocolo TCP/IP na década de 1970 e a padronização da comunicação na internet;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Na década de 80, a ARPAnet atingiu o número de 100.000 máquinas conectadas;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Na década de 90, criada por Tim Berners-Lee, surgiu a World Wide Web, levando a internet para as casas e empresas;</a:t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Surgimento dos navegadores gráficos na década de 1990;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Em 1995, a Internet chegava, de forma comercial, ao Brasil.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500"/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Origem da Internet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pt-BR"/>
              <a:t>Período do comércio eletrônico e redes sociais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pt-BR"/>
              <a:t>Acesso à redes em qualquer lugar a partir do 4G e 5G;</a:t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/>
          </a:p>
          <a:p>
            <a:pPr indent="-50800" lvl="0" marL="165100" rtl="0" algn="just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None/>
            </a:pPr>
            <a:r>
              <a:rPr lang="pt-BR"/>
              <a:t>Onde chegaremos?</a:t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Origem da Internet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Primeira Página Web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 u="sng">
                <a:solidFill>
                  <a:schemeClr val="hlink"/>
                </a:solidFill>
                <a:hlinkClick r:id="rId4"/>
              </a:rPr>
              <a:t>http://info.cern.ch/hypertext/WWW/TheProject.html</a:t>
            </a:r>
            <a:endParaRPr sz="18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5"/>
            </a:endParaRPr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431" y="1464462"/>
            <a:ext cx="8895430" cy="298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Tipos de Sites Existentes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Podem ser classificados como: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/>
              <a:t>Estáticos</a:t>
            </a:r>
            <a:r>
              <a:rPr lang="pt-BR"/>
              <a:t>: páginas que não sofrem alterações com base na interação do usuário. 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Ex.: páginas de apresentação de empresas, página de notícia, etc.;</a:t>
            </a:r>
            <a:endParaRPr/>
          </a:p>
          <a:p>
            <a:pPr indent="-38100" lvl="1" marL="965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Dinâmicos</a:t>
            </a:r>
            <a:r>
              <a:rPr lang="pt-BR"/>
              <a:t>: O conteúdo das páginas está em constante modificação, pode ser por interação do usuário, dados armazenados em banco de dados, etc. 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Ex.: sites de vendas e portais de notícias.</a:t>
            </a:r>
            <a:endParaRPr/>
          </a:p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Evolução das Páginas Web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Até 1995: os mecanismos anteriores a World Wide Web, como e-mail e grupos de discussão, continham hiperlinks sem imagens e textos diagramados. A internet era, até então, basicamente constituída de informação textual;</a:t>
            </a:r>
            <a:endParaRPr/>
          </a:p>
          <a:p>
            <a:pPr indent="-25400" lvl="0" marL="1651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1995: primeiros sites eram basicamente documentos em texto com links para outros textos e outros sites da Internet;</a:t>
            </a:r>
            <a:endParaRPr/>
          </a:p>
          <a:p>
            <a:pPr indent="-25400" lvl="0" marL="165100" rtl="0" algn="just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rPr lang="pt-BR"/>
              <a:t>1995, 1996: os primeiros sites começaram a apresentar layouts e diagramação, mas pelas limitações de velocidade e recursos do HTML, em sua maioria eram estruturados com textos e ícones.</a:t>
            </a:r>
            <a:endParaRPr/>
          </a:p>
        </p:txBody>
      </p:sp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Evolução das Páginas Web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729450" y="13930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Página do </a:t>
            </a:r>
            <a:r>
              <a:rPr lang="pt-BR"/>
              <a:t>UOL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2" y="2072626"/>
            <a:ext cx="4406200" cy="26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1233913" y="1672425"/>
            <a:ext cx="7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1996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7218638" y="1672425"/>
            <a:ext cx="7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2004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4">
            <a:alphaModFix/>
          </a:blip>
          <a:srcRect b="20886" l="0" r="0" t="0"/>
          <a:stretch/>
        </p:blipFill>
        <p:spPr>
          <a:xfrm>
            <a:off x="4834504" y="2072625"/>
            <a:ext cx="4196121" cy="290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Evolução das Páginas Web</a:t>
            </a:r>
            <a:endParaRPr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729450" y="13930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Página do UOL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1691113" y="1672425"/>
            <a:ext cx="7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pt-BR">
                <a:latin typeface="Lato"/>
                <a:ea typeface="Lato"/>
                <a:cs typeface="Lato"/>
                <a:sym typeface="Lato"/>
              </a:rPr>
              <a:t>014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6342300" y="1672425"/>
            <a:ext cx="7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2024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0" y="2072624"/>
            <a:ext cx="4190025" cy="19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3425" y="2072625"/>
            <a:ext cx="5040575" cy="23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Evolução das Páginas Web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Página do Banco Itaú</a:t>
            </a:r>
            <a:endParaRPr/>
          </a:p>
        </p:txBody>
      </p:sp>
      <p:sp>
        <p:nvSpPr>
          <p:cNvPr id="200" name="Google Shape;200;p26"/>
          <p:cNvSpPr txBox="1"/>
          <p:nvPr>
            <p:ph idx="10" type="dt"/>
          </p:nvPr>
        </p:nvSpPr>
        <p:spPr>
          <a:xfrm>
            <a:off x="1566767" y="217204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1997</a:t>
            </a:r>
            <a:endParaRPr/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6"/>
          <p:cNvSpPr txBox="1"/>
          <p:nvPr>
            <p:ph idx="2" type="dt"/>
          </p:nvPr>
        </p:nvSpPr>
        <p:spPr>
          <a:xfrm>
            <a:off x="6213154" y="217204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2004</a:t>
            </a:r>
            <a:endParaRPr/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2100"/>
            <a:ext cx="4080499" cy="18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1095" y="2572088"/>
            <a:ext cx="4458674" cy="249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Evolução das Páginas Web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Página do Banco Itaú</a:t>
            </a:r>
            <a:endParaRPr/>
          </a:p>
        </p:txBody>
      </p:sp>
      <p:sp>
        <p:nvSpPr>
          <p:cNvPr id="211" name="Google Shape;211;p27"/>
          <p:cNvSpPr txBox="1"/>
          <p:nvPr>
            <p:ph idx="10" type="dt"/>
          </p:nvPr>
        </p:nvSpPr>
        <p:spPr>
          <a:xfrm>
            <a:off x="1566767" y="217204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2014</a:t>
            </a:r>
            <a:endParaRPr/>
          </a:p>
        </p:txBody>
      </p:sp>
      <p:sp>
        <p:nvSpPr>
          <p:cNvPr id="212" name="Google Shape;212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7"/>
          <p:cNvSpPr txBox="1"/>
          <p:nvPr>
            <p:ph idx="2" type="dt"/>
          </p:nvPr>
        </p:nvSpPr>
        <p:spPr>
          <a:xfrm>
            <a:off x="6213154" y="217204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2024</a:t>
            </a:r>
            <a:endParaRPr/>
          </a:p>
        </p:txBody>
      </p:sp>
      <p:pic>
        <p:nvPicPr>
          <p:cNvPr id="214" name="Google Shape;21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50586"/>
            <a:ext cx="4341101" cy="2019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9700" y="2480801"/>
            <a:ext cx="4675300" cy="238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 Evolução das Páginas Web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Página da Americanas</a:t>
            </a:r>
            <a:endParaRPr/>
          </a:p>
        </p:txBody>
      </p:sp>
      <p:sp>
        <p:nvSpPr>
          <p:cNvPr id="222" name="Google Shape;222;p28"/>
          <p:cNvSpPr txBox="1"/>
          <p:nvPr>
            <p:ph idx="10" type="dt"/>
          </p:nvPr>
        </p:nvSpPr>
        <p:spPr>
          <a:xfrm>
            <a:off x="900342" y="22061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2002</a:t>
            </a:r>
            <a:endParaRPr/>
          </a:p>
        </p:txBody>
      </p:sp>
      <p:sp>
        <p:nvSpPr>
          <p:cNvPr id="223" name="Google Shape;223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4" name="Google Shape;2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75" y="2500075"/>
            <a:ext cx="2908025" cy="16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7775" y="2480100"/>
            <a:ext cx="3138080" cy="173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>
            <p:ph idx="2" type="dt"/>
          </p:nvPr>
        </p:nvSpPr>
        <p:spPr>
          <a:xfrm>
            <a:off x="4143104" y="22061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2010</a:t>
            </a:r>
            <a:endParaRPr/>
          </a:p>
        </p:txBody>
      </p:sp>
      <p:sp>
        <p:nvSpPr>
          <p:cNvPr id="227" name="Google Shape;227;p28"/>
          <p:cNvSpPr txBox="1"/>
          <p:nvPr>
            <p:ph idx="3" type="dt"/>
          </p:nvPr>
        </p:nvSpPr>
        <p:spPr>
          <a:xfrm>
            <a:off x="7072829" y="22061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2024</a:t>
            </a:r>
            <a:endParaRPr/>
          </a:p>
        </p:txBody>
      </p:sp>
      <p:pic>
        <p:nvPicPr>
          <p:cNvPr id="228" name="Google Shape;22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050" y="2500084"/>
            <a:ext cx="2971949" cy="1514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Introdução ao HTML</a:t>
            </a:r>
            <a:endParaRPr/>
          </a:p>
        </p:txBody>
      </p:sp>
      <p:sp>
        <p:nvSpPr>
          <p:cNvPr id="235" name="Google Shape;235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HTML, acrônimo para HyperText Markup Language (Linguagem de Marcação de Hipertexto, em português), serve para descrição de estruturas de páginas web</a:t>
            </a:r>
            <a:endParaRPr sz="1000"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500"/>
              <a:t>Utiliza como base textos, links e imagens</a:t>
            </a:r>
            <a:endParaRPr sz="1000"/>
          </a:p>
          <a:p>
            <a:pPr indent="0" lvl="0" marL="1143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500"/>
              <a:t>Possui um sistema de </a:t>
            </a:r>
            <a:r>
              <a:rPr i="1" lang="pt-BR" sz="1500"/>
              <a:t>tags</a:t>
            </a:r>
            <a:r>
              <a:rPr lang="pt-BR" sz="1500"/>
              <a:t> para definição dos elementos de uma página, definindo a sua estrutura</a:t>
            </a:r>
            <a:endParaRPr sz="1000"/>
          </a:p>
          <a:p>
            <a:pPr indent="-50800" lvl="0" marL="16510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500"/>
              <a:t>O HTML de qualquer página pode ser visualizado pressionando Ctrl + U no Chrome ou Firefox.</a:t>
            </a:r>
            <a:endParaRPr sz="1000"/>
          </a:p>
          <a:p>
            <a:pPr indent="-50800" lvl="0" marL="165100" rtl="0" algn="l">
              <a:lnSpc>
                <a:spcPct val="7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500"/>
          </a:p>
        </p:txBody>
      </p:sp>
      <p:sp>
        <p:nvSpPr>
          <p:cNvPr id="242" name="Google Shape;242;p3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Introdução ao HTML</a:t>
            </a:r>
            <a:endParaRPr/>
          </a:p>
        </p:txBody>
      </p:sp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Introdução ao HTML</a:t>
            </a:r>
            <a:endParaRPr/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 do HTML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1" name="Google Shape;251;p31"/>
          <p:cNvGrpSpPr/>
          <p:nvPr/>
        </p:nvGrpSpPr>
        <p:grpSpPr>
          <a:xfrm>
            <a:off x="1306754" y="2104582"/>
            <a:ext cx="5926538" cy="1890079"/>
            <a:chOff x="2072122" y="2579824"/>
            <a:chExt cx="7902050" cy="2520105"/>
          </a:xfrm>
        </p:grpSpPr>
        <p:grpSp>
          <p:nvGrpSpPr>
            <p:cNvPr id="252" name="Google Shape;252;p31"/>
            <p:cNvGrpSpPr/>
            <p:nvPr/>
          </p:nvGrpSpPr>
          <p:grpSpPr>
            <a:xfrm>
              <a:off x="2154147" y="2579824"/>
              <a:ext cx="7820025" cy="2428875"/>
              <a:chOff x="2154147" y="2579824"/>
              <a:chExt cx="7820025" cy="2428875"/>
            </a:xfrm>
          </p:grpSpPr>
          <p:pic>
            <p:nvPicPr>
              <p:cNvPr descr="https://mdn.mozillademos.org/files/9347/grumpy-cat-small.png" id="253" name="Google Shape;253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154147" y="2579824"/>
                <a:ext cx="7820025" cy="24288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4" name="Google Shape;254;p31"/>
              <p:cNvSpPr/>
              <p:nvPr/>
            </p:nvSpPr>
            <p:spPr>
              <a:xfrm>
                <a:off x="2217828" y="2626310"/>
                <a:ext cx="1708800" cy="365100"/>
              </a:xfrm>
              <a:prstGeom prst="rect">
                <a:avLst/>
              </a:prstGeom>
              <a:solidFill>
                <a:srgbClr val="211E1E"/>
              </a:solidFill>
              <a:ln cap="flat" cmpd="sng" w="12700">
                <a:solidFill>
                  <a:srgbClr val="211E1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31"/>
              <p:cNvSpPr/>
              <p:nvPr/>
            </p:nvSpPr>
            <p:spPr>
              <a:xfrm>
                <a:off x="8156431" y="2626310"/>
                <a:ext cx="1708800" cy="365100"/>
              </a:xfrm>
              <a:prstGeom prst="rect">
                <a:avLst/>
              </a:prstGeom>
              <a:solidFill>
                <a:srgbClr val="211E1E"/>
              </a:solidFill>
              <a:ln cap="flat" cmpd="sng" w="12700">
                <a:solidFill>
                  <a:srgbClr val="211E1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31"/>
              <p:cNvSpPr/>
              <p:nvPr/>
            </p:nvSpPr>
            <p:spPr>
              <a:xfrm>
                <a:off x="5055966" y="4097845"/>
                <a:ext cx="1708800" cy="365100"/>
              </a:xfrm>
              <a:prstGeom prst="rect">
                <a:avLst/>
              </a:prstGeom>
              <a:solidFill>
                <a:srgbClr val="211E1E"/>
              </a:solidFill>
              <a:ln cap="flat" cmpd="sng" w="12700">
                <a:solidFill>
                  <a:srgbClr val="211E1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31"/>
              <p:cNvSpPr/>
              <p:nvPr/>
            </p:nvSpPr>
            <p:spPr>
              <a:xfrm>
                <a:off x="5209719" y="4629828"/>
                <a:ext cx="1708800" cy="331800"/>
              </a:xfrm>
              <a:prstGeom prst="rect">
                <a:avLst/>
              </a:prstGeom>
              <a:solidFill>
                <a:srgbClr val="211E1E"/>
              </a:solidFill>
              <a:ln cap="flat" cmpd="sng" w="12700">
                <a:solidFill>
                  <a:srgbClr val="211E1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31"/>
              <p:cNvSpPr/>
              <p:nvPr/>
            </p:nvSpPr>
            <p:spPr>
              <a:xfrm>
                <a:off x="3347087" y="3398687"/>
                <a:ext cx="5287200" cy="486000"/>
              </a:xfrm>
              <a:prstGeom prst="rect">
                <a:avLst/>
              </a:prstGeom>
              <a:solidFill>
                <a:srgbClr val="211E1E"/>
              </a:solidFill>
              <a:ln cap="flat" cmpd="sng" w="12700">
                <a:solidFill>
                  <a:srgbClr val="211E1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31"/>
            <p:cNvSpPr txBox="1"/>
            <p:nvPr/>
          </p:nvSpPr>
          <p:spPr>
            <a:xfrm>
              <a:off x="2072122" y="2579824"/>
              <a:ext cx="2548200" cy="5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Tag de abertura</a:t>
              </a:r>
              <a:endParaRPr b="1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31"/>
            <p:cNvSpPr txBox="1"/>
            <p:nvPr/>
          </p:nvSpPr>
          <p:spPr>
            <a:xfrm>
              <a:off x="7027435" y="2579824"/>
              <a:ext cx="2838000" cy="5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rmAutofit fontScale="92500"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Tag de fechamento</a:t>
              </a:r>
              <a:endParaRPr b="1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31"/>
            <p:cNvSpPr txBox="1"/>
            <p:nvPr/>
          </p:nvSpPr>
          <p:spPr>
            <a:xfrm>
              <a:off x="3537679" y="3447948"/>
              <a:ext cx="4961700" cy="5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Aula de Web Design - IFRN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1"/>
            <p:cNvSpPr txBox="1"/>
            <p:nvPr/>
          </p:nvSpPr>
          <p:spPr>
            <a:xfrm>
              <a:off x="3347087" y="4003089"/>
              <a:ext cx="5287200" cy="5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Conteúdo</a:t>
              </a:r>
              <a:endParaRPr b="1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1"/>
            <p:cNvSpPr txBox="1"/>
            <p:nvPr/>
          </p:nvSpPr>
          <p:spPr>
            <a:xfrm>
              <a:off x="2608288" y="4545229"/>
              <a:ext cx="7045500" cy="5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Elemento</a:t>
              </a:r>
              <a:endParaRPr b="1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31"/>
          <p:cNvSpPr txBox="1"/>
          <p:nvPr/>
        </p:nvSpPr>
        <p:spPr>
          <a:xfrm>
            <a:off x="1368272" y="3954550"/>
            <a:ext cx="5865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Adaptado de Mozilla.org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Introdução ao HTML</a:t>
            </a:r>
            <a:endParaRPr/>
          </a:p>
        </p:txBody>
      </p:sp>
      <p:sp>
        <p:nvSpPr>
          <p:cNvPr id="270" name="Google Shape;27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HTML é uma linguagem de marcação:</a:t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471594" y="2113024"/>
            <a:ext cx="7092000" cy="578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1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&lt;h1&gt;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Campus Pau dos Ferros promove Seminário de Integração Acadêmica para calouros dos cursos técnicos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&lt;/h1&gt;</a:t>
            </a:r>
            <a:endParaRPr sz="1100"/>
          </a:p>
        </p:txBody>
      </p:sp>
      <p:sp>
        <p:nvSpPr>
          <p:cNvPr id="273" name="Google Shape;273;p32"/>
          <p:cNvSpPr txBox="1"/>
          <p:nvPr/>
        </p:nvSpPr>
        <p:spPr>
          <a:xfrm>
            <a:off x="471600" y="2953224"/>
            <a:ext cx="7092000" cy="9129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1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None/>
            </a:pPr>
            <a:r>
              <a:rPr b="1" i="0" lang="pt-BR" sz="1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&lt;p&gt;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calouros dos cursos técnicos integrados em Alimentos, </a:t>
            </a:r>
            <a:endParaRPr sz="1100"/>
          </a:p>
          <a:p>
            <a:pPr indent="0" lvl="1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Apicultura e Informática serão recepcionados com uma programação especial, </a:t>
            </a:r>
            <a:endParaRPr sz="1100"/>
          </a:p>
          <a:p>
            <a:pPr indent="0" lvl="1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através do Seminário de Integração Acadêmica 2019.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&lt;/p&gt;</a:t>
            </a:r>
            <a:endParaRPr sz="1100"/>
          </a:p>
        </p:txBody>
      </p:sp>
      <p:sp>
        <p:nvSpPr>
          <p:cNvPr id="274" name="Google Shape;274;p32"/>
          <p:cNvSpPr txBox="1"/>
          <p:nvPr/>
        </p:nvSpPr>
        <p:spPr>
          <a:xfrm>
            <a:off x="471593" y="4223964"/>
            <a:ext cx="4547700" cy="2859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1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&lt;img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src="pic_trulli.jpg" alt="Italian Trulli"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Introdução ao HTML</a:t>
            </a:r>
            <a:endParaRPr/>
          </a:p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HTML não possui regras quanto a escrita das tags em maiúsculo ou minúsculo e mesmo sem fechar algumas tags, não haverá mensagem de erro;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rPr lang="pt-BR"/>
              <a:t>Porém, cuidado com tags abertas, pois pode causar efeito inesperado na página. Também é recomendável escrevê-las em minúsculo.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Projeto</a:t>
            </a:r>
            <a:endParaRPr/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300"/>
              <a:t>Mas </a:t>
            </a:r>
            <a:r>
              <a:rPr lang="pt-BR"/>
              <a:t>para que servem todos esses arquivos?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9" name="Google Shape;2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372" y="2114900"/>
            <a:ext cx="3539600" cy="28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4"/>
          <p:cNvPicPr preferRelativeResize="0"/>
          <p:nvPr/>
        </p:nvPicPr>
        <p:blipFill rotWithShape="1">
          <a:blip r:embed="rId4">
            <a:alphaModFix/>
          </a:blip>
          <a:srcRect b="0" l="0" r="0" t="11504"/>
          <a:stretch/>
        </p:blipFill>
        <p:spPr>
          <a:xfrm>
            <a:off x="5805850" y="2267125"/>
            <a:ext cx="2853549" cy="25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/>
          <p:nvPr/>
        </p:nvSpPr>
        <p:spPr>
          <a:xfrm>
            <a:off x="4251850" y="3367600"/>
            <a:ext cx="1739100" cy="53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do Documento HTML</a:t>
            </a:r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documento HTML é formado por um conjunto de elementos;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rPr lang="pt-BR"/>
              <a:t>Existe uma estrutura básica que deve ser utilizada.</a:t>
            </a:r>
            <a:endParaRPr/>
          </a:p>
        </p:txBody>
      </p:sp>
      <p:sp>
        <p:nvSpPr>
          <p:cNvPr id="298" name="Google Shape;298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9" name="Google Shape;29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5885" y="2378179"/>
            <a:ext cx="3318116" cy="2489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05" name="Google Shape;305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6" name="Google Shape;306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12" name="Google Shape;312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3" name="Google Shape;313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 txBox="1"/>
          <p:nvPr/>
        </p:nvSpPr>
        <p:spPr>
          <a:xfrm>
            <a:off x="3872849" y="1589450"/>
            <a:ext cx="4545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o tipo de documento HTML que será utilizado</a:t>
            </a:r>
            <a:endParaRPr sz="817"/>
          </a:p>
        </p:txBody>
      </p:sp>
      <p:sp>
        <p:nvSpPr>
          <p:cNvPr id="315" name="Google Shape;315;p37"/>
          <p:cNvSpPr/>
          <p:nvPr/>
        </p:nvSpPr>
        <p:spPr>
          <a:xfrm>
            <a:off x="1220492" y="1562392"/>
            <a:ext cx="26523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21" name="Google Shape;321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2" name="Google Shape;322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8"/>
          <p:cNvSpPr txBox="1"/>
          <p:nvPr/>
        </p:nvSpPr>
        <p:spPr>
          <a:xfrm>
            <a:off x="3187046" y="1896828"/>
            <a:ext cx="5106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 principal de um documento HTML</a:t>
            </a:r>
            <a:endParaRPr sz="1100"/>
          </a:p>
        </p:txBody>
      </p:sp>
      <p:sp>
        <p:nvSpPr>
          <p:cNvPr id="324" name="Google Shape;324;p38"/>
          <p:cNvSpPr/>
          <p:nvPr/>
        </p:nvSpPr>
        <p:spPr>
          <a:xfrm>
            <a:off x="534692" y="1869775"/>
            <a:ext cx="26523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534691" y="4321937"/>
            <a:ext cx="26523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31" name="Google Shape;331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2" name="Google Shape;332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9"/>
          <p:cNvSpPr txBox="1"/>
          <p:nvPr/>
        </p:nvSpPr>
        <p:spPr>
          <a:xfrm>
            <a:off x="4027745" y="1763020"/>
            <a:ext cx="38622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 que contém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informações sobre o documento</a:t>
            </a:r>
            <a:endParaRPr sz="1100"/>
          </a:p>
        </p:txBody>
      </p:sp>
      <p:sp>
        <p:nvSpPr>
          <p:cNvPr id="334" name="Google Shape;334;p39"/>
          <p:cNvSpPr/>
          <p:nvPr/>
        </p:nvSpPr>
        <p:spPr>
          <a:xfrm>
            <a:off x="1296692" y="2142092"/>
            <a:ext cx="26523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1296691" y="3230159"/>
            <a:ext cx="26523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41" name="Google Shape;341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2" name="Google Shape;342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0"/>
          <p:cNvSpPr txBox="1"/>
          <p:nvPr/>
        </p:nvSpPr>
        <p:spPr>
          <a:xfrm>
            <a:off x="5740546" y="1664533"/>
            <a:ext cx="38622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 o conjunto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caracteres utilizados</a:t>
            </a:r>
            <a:endParaRPr sz="1100"/>
          </a:p>
        </p:txBody>
      </p:sp>
      <p:sp>
        <p:nvSpPr>
          <p:cNvPr id="344" name="Google Shape;344;p40"/>
          <p:cNvSpPr/>
          <p:nvPr/>
        </p:nvSpPr>
        <p:spPr>
          <a:xfrm>
            <a:off x="2397577" y="2448137"/>
            <a:ext cx="38832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50" name="Google Shape;350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1" name="Google Shape;351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1"/>
          <p:cNvSpPr txBox="1"/>
          <p:nvPr/>
        </p:nvSpPr>
        <p:spPr>
          <a:xfrm>
            <a:off x="5207146" y="1738804"/>
            <a:ext cx="3862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o título da página</a:t>
            </a:r>
            <a:endParaRPr sz="1100"/>
          </a:p>
        </p:txBody>
      </p:sp>
      <p:sp>
        <p:nvSpPr>
          <p:cNvPr id="353" name="Google Shape;353;p41"/>
          <p:cNvSpPr/>
          <p:nvPr/>
        </p:nvSpPr>
        <p:spPr>
          <a:xfrm>
            <a:off x="2195277" y="2774170"/>
            <a:ext cx="6254100" cy="404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Básica do HTML</a:t>
            </a:r>
            <a:endParaRPr/>
          </a:p>
        </p:txBody>
      </p:sp>
      <p:sp>
        <p:nvSpPr>
          <p:cNvPr id="359" name="Google Shape;359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0" name="Google Shape;360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/>
        </p:nvSpPr>
        <p:spPr>
          <a:xfrm>
            <a:off x="3651352" y="3700730"/>
            <a:ext cx="38622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o conteúdo de uma página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definido dentro deste elemento</a:t>
            </a:r>
            <a:endParaRPr sz="1100"/>
          </a:p>
        </p:txBody>
      </p:sp>
      <p:sp>
        <p:nvSpPr>
          <p:cNvPr id="362" name="Google Shape;362;p42"/>
          <p:cNvSpPr/>
          <p:nvPr/>
        </p:nvSpPr>
        <p:spPr>
          <a:xfrm>
            <a:off x="1543834" y="3700730"/>
            <a:ext cx="1893900" cy="791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368" name="Google Shape;368;p4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Elementos aninhados: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Todo elemento que pode conter outros elementos (elementos contêineres);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Possuem uma tag de abertura e outra  de fechamento; 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-165100" lvl="2" marL="8509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&lt;h1&gt;, &lt;p&gt;, &lt;html&gt;, &lt;body&gt;, etc.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Elementos vazios: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Elementos que não possuem conteúdos aninhados.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-165100" lvl="2" marL="8509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&lt;meta&gt;, &lt;img&gt;, &lt;br&gt;, &lt;input&gt;, etc.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9" name="Google Shape;369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375" name="Google Shape;375;p4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Títulos: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Utilizados para darem destaque a um texto;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Existem 6 níveis de cabeçalho no texto, onde cada nível representa um nível de importância: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&lt;h1&gt; até &lt;h6&gt;.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Por que usar níveis diferentes de títulos?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76" name="Google Shape;376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382" name="Google Shape;382;p4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Por que utilizar níveis diferentes de título?</a:t>
            </a:r>
            <a:endParaRPr/>
          </a:p>
        </p:txBody>
      </p:sp>
      <p:sp>
        <p:nvSpPr>
          <p:cNvPr id="383" name="Google Shape;383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n example of a newspaper front cover, showing use of a top level heading, subheadings and paragraphs." id="384" name="Google Shape;3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601" y="2038425"/>
            <a:ext cx="4867526" cy="30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390" name="Google Shape;390;p4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Por que utilizar níveis diferentes de título?</a:t>
            </a:r>
            <a:endParaRPr/>
          </a:p>
        </p:txBody>
      </p:sp>
      <p:sp>
        <p:nvSpPr>
          <p:cNvPr id="391" name="Google Shape;391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2" name="Google Shape;39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806" y="981393"/>
            <a:ext cx="3836194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398" name="Google Shape;398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9" name="Google Shape;399;p4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Por que utilizar níveis diferentes de título?</a:t>
            </a:r>
            <a:endParaRPr/>
          </a:p>
        </p:txBody>
      </p:sp>
      <p:pic>
        <p:nvPicPr>
          <p:cNvPr id="400" name="Google Shape;40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531" y="1732525"/>
            <a:ext cx="4706793" cy="31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Título: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É importante manter os níveis de cabeçalho para manter a semântica da página;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Buscadores de conteúdo utilizam elementos do HTML para trazer a informação desejada;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Leitores de tela também fazem uso destes elementos.</a:t>
            </a:r>
            <a:endParaRPr/>
          </a:p>
        </p:txBody>
      </p:sp>
      <p:sp>
        <p:nvSpPr>
          <p:cNvPr id="407" name="Google Shape;407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13" name="Google Shape;413;p4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Horizontal: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Serve para separar conteúdos em uma página HTML;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É um elemento vazio e é representado pela tag </a:t>
            </a:r>
            <a:r>
              <a:rPr b="1" lang="pt-BR"/>
              <a:t>&lt;hr&gt;</a:t>
            </a:r>
            <a:r>
              <a:rPr lang="pt-BR"/>
              <a:t>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Em páginas XHTML, o hr deverá ser fechado: </a:t>
            </a:r>
            <a:r>
              <a:rPr b="1" lang="pt-BR"/>
              <a:t>&lt;hr/&gt;</a:t>
            </a:r>
            <a:r>
              <a:rPr lang="pt-BR"/>
              <a:t>.</a:t>
            </a:r>
            <a:endParaRPr/>
          </a:p>
        </p:txBody>
      </p:sp>
      <p:sp>
        <p:nvSpPr>
          <p:cNvPr id="414" name="Google Shape;414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20" name="Google Shape;420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1" name="Google Shape;421;p5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393063"/>
            <a:ext cx="65341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388" y="2925225"/>
            <a:ext cx="446722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29" name="Google Shape;429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5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Listas:</a:t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 HTML possibilita a criação de dois tipos de listas: ordenadas e não ordenadas;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31" name="Google Shape;431;p51"/>
          <p:cNvSpPr txBox="1"/>
          <p:nvPr/>
        </p:nvSpPr>
        <p:spPr>
          <a:xfrm>
            <a:off x="516475" y="2287275"/>
            <a:ext cx="40554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Lista Ordenada:</a:t>
            </a:r>
            <a:endParaRPr sz="700">
              <a:solidFill>
                <a:schemeClr val="accent1"/>
              </a:solidFill>
            </a:endParaRPr>
          </a:p>
          <a:p>
            <a:pPr indent="-349250" lvl="1" marL="723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AutoNum type="arabicPeriod"/>
            </a:pPr>
            <a:r>
              <a:rPr b="0" i="0" lang="pt-BR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Leite</a:t>
            </a:r>
            <a:endParaRPr sz="700">
              <a:solidFill>
                <a:schemeClr val="accent1"/>
              </a:solidFill>
            </a:endParaRPr>
          </a:p>
          <a:p>
            <a:pPr indent="-349250" lvl="1" marL="723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AutoNum type="arabicPeriod"/>
            </a:pPr>
            <a:r>
              <a:rPr b="0" i="0" lang="pt-BR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Ovos</a:t>
            </a:r>
            <a:endParaRPr sz="700">
              <a:solidFill>
                <a:schemeClr val="accent1"/>
              </a:solidFill>
            </a:endParaRPr>
          </a:p>
          <a:p>
            <a:pPr indent="-349250" lvl="1" marL="723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AutoNum type="arabicPeriod"/>
            </a:pPr>
            <a:r>
              <a:rPr b="0" i="0" lang="pt-BR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Pão</a:t>
            </a:r>
            <a:endParaRPr sz="700">
              <a:solidFill>
                <a:schemeClr val="accent1"/>
              </a:solidFill>
            </a:endParaRPr>
          </a:p>
          <a:p>
            <a:pPr indent="-349250" lvl="1" marL="723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alibri"/>
              <a:buAutoNum type="arabicPeriod"/>
            </a:pPr>
            <a:r>
              <a:rPr b="0" i="0" lang="pt-BR" sz="1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Queijo</a:t>
            </a:r>
            <a:endParaRPr b="0" i="0" sz="17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1"/>
          <p:cNvSpPr txBox="1"/>
          <p:nvPr/>
        </p:nvSpPr>
        <p:spPr>
          <a:xfrm>
            <a:off x="4572000" y="2310134"/>
            <a:ext cx="43233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Lista Não Ordenada:</a:t>
            </a:r>
            <a:endParaRPr sz="1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•"/>
            </a:pPr>
            <a:r>
              <a:rPr lang="pt-BR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Leite</a:t>
            </a:r>
            <a:endParaRPr sz="1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•"/>
            </a:pPr>
            <a:r>
              <a:rPr lang="pt-BR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Ovos</a:t>
            </a:r>
            <a:endParaRPr sz="1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•"/>
            </a:pPr>
            <a:r>
              <a:rPr lang="pt-BR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Pão</a:t>
            </a:r>
            <a:endParaRPr sz="1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•"/>
            </a:pPr>
            <a:r>
              <a:rPr lang="pt-BR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Queijo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38" name="Google Shape;438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5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Listas:</a:t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 HTML possibilita a criação de dois tipos de listas: ordenadas e não ordenadas;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40" name="Google Shape;440;p52"/>
          <p:cNvSpPr txBox="1"/>
          <p:nvPr/>
        </p:nvSpPr>
        <p:spPr>
          <a:xfrm>
            <a:off x="248574" y="2287283"/>
            <a:ext cx="43233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Ordenada:</a:t>
            </a:r>
            <a:endParaRPr sz="1100"/>
          </a:p>
        </p:txBody>
      </p:sp>
      <p:sp>
        <p:nvSpPr>
          <p:cNvPr id="441" name="Google Shape;441;p52"/>
          <p:cNvSpPr txBox="1"/>
          <p:nvPr/>
        </p:nvSpPr>
        <p:spPr>
          <a:xfrm>
            <a:off x="4572000" y="2310134"/>
            <a:ext cx="43233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Não Ordenada:</a:t>
            </a:r>
            <a:endParaRPr sz="1100"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74" y="2706718"/>
            <a:ext cx="2843213" cy="1864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1042" y="2706718"/>
            <a:ext cx="2864644" cy="1957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49" name="Google Shape;449;p5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Negrito e itálico:</a:t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Negrito:</a:t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Quando se quer dá importância à palavra ou frase, usa-se o elemento </a:t>
            </a:r>
            <a:r>
              <a:rPr b="1" lang="pt-BR"/>
              <a:t>&lt;strong&gt;</a:t>
            </a:r>
            <a:r>
              <a:rPr lang="pt-BR"/>
              <a:t>;</a:t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45720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Itálico:</a:t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Quando se quer dá importância à palavra ou frase, usa-se o elemento </a:t>
            </a:r>
            <a:r>
              <a:rPr b="1" lang="pt-BR"/>
              <a:t>&lt;em&gt;</a:t>
            </a:r>
            <a:r>
              <a:rPr lang="pt-BR"/>
              <a:t>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0" name="Google Shape;450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HTML: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900">
              <a:solidFill>
                <a:srgbClr val="2E75B5"/>
              </a:solidFill>
            </a:endParaRPr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5B5"/>
              </a:buClr>
              <a:buSzPts val="2100"/>
              <a:buNone/>
            </a:pPr>
            <a:r>
              <a:rPr lang="pt-BR" sz="1700">
                <a:solidFill>
                  <a:srgbClr val="2E75B5"/>
                </a:solidFill>
              </a:rPr>
              <a:t>&lt;</a:t>
            </a:r>
            <a:r>
              <a:rPr lang="pt-BR" sz="1700">
                <a:solidFill>
                  <a:srgbClr val="FF0000"/>
                </a:solidFill>
              </a:rPr>
              <a:t>p</a:t>
            </a:r>
            <a:r>
              <a:rPr lang="pt-BR" sz="1700">
                <a:solidFill>
                  <a:srgbClr val="2E75B5"/>
                </a:solidFill>
              </a:rPr>
              <a:t>&gt;</a:t>
            </a:r>
            <a:r>
              <a:rPr lang="pt-BR" sz="1700"/>
              <a:t>Os calouros dos cursos técnicos integrados em </a:t>
            </a:r>
            <a:r>
              <a:rPr lang="pt-BR" sz="1700">
                <a:solidFill>
                  <a:srgbClr val="2E75B5"/>
                </a:solidFill>
              </a:rPr>
              <a:t>&lt;</a:t>
            </a:r>
            <a:r>
              <a:rPr lang="pt-BR" sz="1700">
                <a:solidFill>
                  <a:srgbClr val="FF0000"/>
                </a:solidFill>
              </a:rPr>
              <a:t>strong</a:t>
            </a:r>
            <a:r>
              <a:rPr lang="pt-BR" sz="1700">
                <a:solidFill>
                  <a:srgbClr val="2E75B5"/>
                </a:solidFill>
              </a:rPr>
              <a:t>&gt;</a:t>
            </a:r>
            <a:r>
              <a:rPr lang="pt-BR" sz="1700"/>
              <a:t>Alimentos, Apicultura e Informática</a:t>
            </a:r>
            <a:r>
              <a:rPr lang="pt-BR" sz="1700">
                <a:solidFill>
                  <a:srgbClr val="2E75B5"/>
                </a:solidFill>
              </a:rPr>
              <a:t>&lt;/</a:t>
            </a:r>
            <a:r>
              <a:rPr lang="pt-BR" sz="1700">
                <a:solidFill>
                  <a:srgbClr val="FF0000"/>
                </a:solidFill>
              </a:rPr>
              <a:t>strong</a:t>
            </a:r>
            <a:r>
              <a:rPr lang="pt-BR" sz="1700">
                <a:solidFill>
                  <a:srgbClr val="2E75B5"/>
                </a:solidFill>
              </a:rPr>
              <a:t>&gt;</a:t>
            </a:r>
            <a:r>
              <a:rPr lang="pt-BR" sz="1700"/>
              <a:t> serão recepcionados com uma programação especial, através do </a:t>
            </a:r>
            <a:r>
              <a:rPr lang="pt-BR" sz="1700">
                <a:solidFill>
                  <a:srgbClr val="2E75B5"/>
                </a:solidFill>
              </a:rPr>
              <a:t>&lt;</a:t>
            </a:r>
            <a:r>
              <a:rPr lang="pt-BR" sz="1700">
                <a:solidFill>
                  <a:srgbClr val="FF0000"/>
                </a:solidFill>
              </a:rPr>
              <a:t>em</a:t>
            </a:r>
            <a:r>
              <a:rPr lang="pt-BR" sz="1700">
                <a:solidFill>
                  <a:srgbClr val="2E75B5"/>
                </a:solidFill>
              </a:rPr>
              <a:t>&gt;</a:t>
            </a:r>
            <a:r>
              <a:rPr lang="pt-BR" sz="1700"/>
              <a:t>Seminário de Integração Acadêmica 2019</a:t>
            </a:r>
            <a:r>
              <a:rPr lang="pt-BR" sz="1700">
                <a:solidFill>
                  <a:srgbClr val="2E75B5"/>
                </a:solidFill>
              </a:rPr>
              <a:t>&lt;/</a:t>
            </a:r>
            <a:r>
              <a:rPr lang="pt-BR" sz="1700">
                <a:solidFill>
                  <a:srgbClr val="FF0000"/>
                </a:solidFill>
              </a:rPr>
              <a:t>em</a:t>
            </a:r>
            <a:r>
              <a:rPr lang="pt-BR" sz="1700">
                <a:solidFill>
                  <a:srgbClr val="2E75B5"/>
                </a:solidFill>
              </a:rPr>
              <a:t>&gt;</a:t>
            </a:r>
            <a:r>
              <a:rPr lang="pt-BR" sz="1700"/>
              <a:t>.</a:t>
            </a:r>
            <a:r>
              <a:rPr lang="pt-BR" sz="1700">
                <a:solidFill>
                  <a:srgbClr val="2E75B5"/>
                </a:solidFill>
              </a:rPr>
              <a:t>&lt;/</a:t>
            </a:r>
            <a:r>
              <a:rPr lang="pt-BR" sz="1700">
                <a:solidFill>
                  <a:srgbClr val="FF0000"/>
                </a:solidFill>
              </a:rPr>
              <a:t>p</a:t>
            </a:r>
            <a:r>
              <a:rPr lang="pt-BR" sz="1700">
                <a:solidFill>
                  <a:srgbClr val="2E75B5"/>
                </a:solidFill>
              </a:rPr>
              <a:t>&gt;</a:t>
            </a:r>
            <a:endParaRPr sz="700"/>
          </a:p>
          <a:p>
            <a:pPr indent="-50800" lvl="1" marL="508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900"/>
          </a:p>
          <a:p>
            <a:pPr indent="-76200" lvl="2" marL="850900" rtl="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900"/>
          </a:p>
        </p:txBody>
      </p:sp>
      <p:sp>
        <p:nvSpPr>
          <p:cNvPr id="456" name="Google Shape;456;p54"/>
          <p:cNvSpPr txBox="1"/>
          <p:nvPr>
            <p:ph idx="4294967295" type="body"/>
          </p:nvPr>
        </p:nvSpPr>
        <p:spPr>
          <a:xfrm>
            <a:off x="1082474" y="3473800"/>
            <a:ext cx="7453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40"/>
              <a:t>Resultado</a:t>
            </a:r>
            <a:r>
              <a:rPr lang="pt-BR" sz="1540"/>
              <a:t>:</a:t>
            </a:r>
            <a:endParaRPr sz="605"/>
          </a:p>
          <a:p>
            <a:pPr indent="-12700" lvl="0" marL="16510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r>
              <a:t/>
            </a:r>
            <a:endParaRPr sz="154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040"/>
              <a:buNone/>
            </a:pPr>
            <a:r>
              <a:rPr lang="pt-BR" sz="1540"/>
              <a:t>Os calouros dos cursos técnicos integrados em </a:t>
            </a:r>
            <a:r>
              <a:rPr b="1" lang="pt-BR" sz="1540"/>
              <a:t>Alimentos, Apicultura e Informática</a:t>
            </a:r>
            <a:r>
              <a:rPr lang="pt-BR" sz="1540"/>
              <a:t> serão recepcionados com uma programação especial, através do </a:t>
            </a:r>
            <a:r>
              <a:rPr i="1" lang="pt-BR" sz="1540"/>
              <a:t>Seminário de Integração Acadêmica 2019</a:t>
            </a:r>
            <a:r>
              <a:rPr lang="pt-BR" sz="1540"/>
              <a:t>.</a:t>
            </a:r>
            <a:endParaRPr sz="605"/>
          </a:p>
        </p:txBody>
      </p:sp>
      <p:sp>
        <p:nvSpPr>
          <p:cNvPr id="457" name="Google Shape;457;p5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58" name="Google Shape;458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64" name="Google Shape;464;p5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Outros elementos de formatação de texto: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&lt;mark&gt;: </a:t>
            </a:r>
            <a:r>
              <a:rPr lang="pt-BR">
                <a:highlight>
                  <a:srgbClr val="FFFF00"/>
                </a:highlight>
              </a:rPr>
              <a:t>destaca o texto</a:t>
            </a:r>
            <a:r>
              <a:rPr lang="pt-BR"/>
              <a:t>;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&lt;small&gt;: </a:t>
            </a:r>
            <a:r>
              <a:rPr lang="pt-B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Reduz a fonte de </a:t>
            </a:r>
            <a:r>
              <a:rPr lang="pt-BR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parte do texto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pt-BR"/>
              <a:t>;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&lt;del&gt;: </a:t>
            </a:r>
            <a:r>
              <a:rPr lang="pt-B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Destaca parte do texto que foi </a:t>
            </a:r>
            <a:r>
              <a:rPr lang="pt-BR" strike="sngStrike"/>
              <a:t>adicionado</a:t>
            </a:r>
            <a:r>
              <a:rPr lang="pt-B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Removido.</a:t>
            </a:r>
            <a:r>
              <a:rPr lang="pt-BR"/>
              <a:t>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&lt;ins&gt;: Destaca a parte </a:t>
            </a:r>
            <a:r>
              <a:rPr lang="pt-BR" u="sng"/>
              <a:t>do texto</a:t>
            </a:r>
            <a:r>
              <a:rPr lang="pt-BR"/>
              <a:t> que foi adicionada;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&lt;sub&gt;: Destaca a parte do texto que fica abaixo </a:t>
            </a:r>
            <a:r>
              <a:rPr baseline="-25000" lang="pt-BR"/>
              <a:t>do nível normal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rPr lang="pt-BR"/>
              <a:t>&lt;sup&gt;: Destaca a parte do texto que fica acima </a:t>
            </a:r>
            <a:r>
              <a:rPr baseline="30000" lang="pt-BR"/>
              <a:t>do nível normal</a:t>
            </a:r>
            <a:endParaRPr/>
          </a:p>
        </p:txBody>
      </p:sp>
      <p:sp>
        <p:nvSpPr>
          <p:cNvPr id="465" name="Google Shape;465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Elementos de Texto do HTML</a:t>
            </a:r>
            <a:endParaRPr/>
          </a:p>
        </p:txBody>
      </p:sp>
      <p:sp>
        <p:nvSpPr>
          <p:cNvPr id="471" name="Google Shape;471;p5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Outros elementos de formatação de texto: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&lt;mark&gt;: </a:t>
            </a:r>
            <a:r>
              <a:rPr lang="pt-BR">
                <a:highlight>
                  <a:srgbClr val="FFFF00"/>
                </a:highlight>
              </a:rPr>
              <a:t>destaca o texto</a:t>
            </a:r>
            <a:r>
              <a:rPr lang="pt-BR"/>
              <a:t>;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&lt;small&gt;: </a:t>
            </a:r>
            <a:r>
              <a:rPr lang="pt-B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Reduz a fonte de </a:t>
            </a:r>
            <a:r>
              <a:rPr lang="pt-BR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parte do texto</a:t>
            </a:r>
            <a:r>
              <a:rPr lang="pt-B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pt-BR"/>
              <a:t>;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&lt;del&gt;: </a:t>
            </a:r>
            <a:r>
              <a:rPr lang="pt-B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Destaca parte do texto que foi </a:t>
            </a:r>
            <a:r>
              <a:rPr lang="pt-BR" strike="sngStrike"/>
              <a:t>adicionado</a:t>
            </a:r>
            <a:r>
              <a:rPr lang="pt-BR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Removido.</a:t>
            </a:r>
            <a:r>
              <a:rPr lang="pt-BR"/>
              <a:t>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&lt;ins&gt;: Destaca a parte </a:t>
            </a:r>
            <a:r>
              <a:rPr lang="pt-BR" u="sng"/>
              <a:t>do texto</a:t>
            </a:r>
            <a:r>
              <a:rPr lang="pt-BR"/>
              <a:t> que foi adicionada;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&lt;sub&gt;: Destaca a parte do texto que fica abaixo </a:t>
            </a:r>
            <a:r>
              <a:rPr baseline="-25000" lang="pt-BR"/>
              <a:t>do nível normal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rPr lang="pt-BR"/>
              <a:t>&lt;sup&gt;: Destaca a parte do texto que fica acima </a:t>
            </a:r>
            <a:r>
              <a:rPr baseline="30000" lang="pt-BR"/>
              <a:t>do nível normal</a:t>
            </a:r>
            <a:endParaRPr/>
          </a:p>
        </p:txBody>
      </p:sp>
      <p:sp>
        <p:nvSpPr>
          <p:cNvPr id="472" name="Google Shape;472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de Projeto</a:t>
            </a:r>
            <a:endParaRPr/>
          </a:p>
        </p:txBody>
      </p:sp>
      <p:sp>
        <p:nvSpPr>
          <p:cNvPr id="478" name="Google Shape;478;p57"/>
          <p:cNvSpPr txBox="1"/>
          <p:nvPr>
            <p:ph idx="1" type="body"/>
          </p:nvPr>
        </p:nvSpPr>
        <p:spPr>
          <a:xfrm>
            <a:off x="729450" y="1621675"/>
            <a:ext cx="52689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A organização do projeto depende da complexidade da aplicação que está sendo criada;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Organização básica:</a:t>
            </a:r>
            <a:endParaRPr/>
          </a:p>
          <a:p>
            <a:pPr indent="-3111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Criar pasta do projeto;</a:t>
            </a:r>
            <a:endParaRPr/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Dentro da pasta do projeto teremos:</a:t>
            </a:r>
            <a:endParaRPr/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pt-BR"/>
              <a:t>arquivos html:</a:t>
            </a:r>
            <a:r>
              <a:rPr lang="pt-BR"/>
              <a:t> as páginas que serão criadas;</a:t>
            </a:r>
            <a:endParaRPr/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pt-BR"/>
              <a:t>pasta “css”:</a:t>
            </a:r>
            <a:r>
              <a:rPr lang="pt-BR"/>
              <a:t> armazenará todos os arquivos de estilo;</a:t>
            </a:r>
            <a:endParaRPr/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pt-BR"/>
              <a:t>pasta “img”:</a:t>
            </a:r>
            <a:r>
              <a:rPr lang="pt-BR"/>
              <a:t> armazenará as imagens que serão utilizadas no projeto;</a:t>
            </a:r>
            <a:endParaRPr/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pt-BR"/>
              <a:t>pasta “js”:</a:t>
            </a:r>
            <a:r>
              <a:rPr lang="pt-BR"/>
              <a:t> armazenará os arquivos javascript que serão utilizados no projeto.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Obs.: A página inicial de um projeto web deve ser nomeada como </a:t>
            </a:r>
            <a:r>
              <a:rPr b="1" lang="pt-BR"/>
              <a:t>index.</a:t>
            </a:r>
            <a:endParaRPr b="1"/>
          </a:p>
        </p:txBody>
      </p:sp>
      <p:sp>
        <p:nvSpPr>
          <p:cNvPr id="479" name="Google Shape;479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0" name="Google Shape;4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6160" y="795925"/>
            <a:ext cx="1130775" cy="9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1413" y="2285788"/>
            <a:ext cx="20002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7"/>
          <p:cNvSpPr/>
          <p:nvPr/>
        </p:nvSpPr>
        <p:spPr>
          <a:xfrm>
            <a:off x="7601600" y="1864000"/>
            <a:ext cx="279900" cy="302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Imagens</a:t>
            </a:r>
            <a:endParaRPr/>
          </a:p>
        </p:txBody>
      </p:sp>
      <p:sp>
        <p:nvSpPr>
          <p:cNvPr id="488" name="Google Shape;488;p58"/>
          <p:cNvSpPr txBox="1"/>
          <p:nvPr>
            <p:ph idx="1" type="body"/>
          </p:nvPr>
        </p:nvSpPr>
        <p:spPr>
          <a:xfrm>
            <a:off x="729450" y="1621675"/>
            <a:ext cx="78069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300"/>
              <a:t>As imagens são elementos importantes em páginas da web, pois ajudam a transmitir informações visualmente e tornam o conteúdo mais atraente para os usuários</a:t>
            </a:r>
            <a:r>
              <a:rPr lang="pt-BR"/>
              <a:t>;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A imagem</a:t>
            </a:r>
            <a:endParaRPr/>
          </a:p>
        </p:txBody>
      </p:sp>
      <p:sp>
        <p:nvSpPr>
          <p:cNvPr id="489" name="Google Shape;489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Material de Referência</a:t>
            </a:r>
            <a:endParaRPr/>
          </a:p>
        </p:txBody>
      </p:sp>
      <p:sp>
        <p:nvSpPr>
          <p:cNvPr id="495" name="Google Shape;495;p5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W3Schools: </a:t>
            </a:r>
            <a:endParaRPr/>
          </a:p>
          <a:p>
            <a:pPr indent="-1714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https://www.w3schools.com/html/default.asp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651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Mozilla Web Docs:</a:t>
            </a:r>
            <a:endParaRPr/>
          </a:p>
          <a:p>
            <a:pPr indent="-1714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https://developer.mozilla.org/en-US/docs/Learn/HTML/Introduction_to_HTML/HTML_text_fundamentals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96" name="Google Shape;496;p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