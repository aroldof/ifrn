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becc0d08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11becc0d08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e1ec995e0f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e1ec995e0f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e1ec995e0f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e1ec995e0f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e1ec995e0f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e1ec995e0f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e1ec995e0f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e1ec995e0f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1ec995e0f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e1ec995e0f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e1ec995e0f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e1ec995e0f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1ec995e0f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e1ec995e0f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e1ec995e0f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e1ec995e0f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e1ec995e0f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e1ec995e0f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e1ec995e0f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e1ec995e0f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e1ec995e0f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e1ec995e0f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e1ec995e0f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e1ec995e0f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e1ec995e0f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e1ec995e0f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1ec995e0f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e1ec995e0f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Box model</a:t>
            </a:r>
            <a:endParaRPr/>
          </a:p>
        </p:txBody>
      </p:sp>
      <p:sp>
        <p:nvSpPr>
          <p:cNvPr id="245" name="Google Shape;245;ge1ec995e0f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e1ec995e0f_0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e1ec995e0f_0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1becc0d08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1becc0d08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becc0d08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1becc0d08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becc0d08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1becc0d08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D9EAD3">
            <a:alpha val="20310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D9EAD3">
            <a:alpha val="4323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" name="Google Shape;2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830392" y="734056"/>
            <a:ext cx="745763" cy="45826"/>
            <a:chOff x="830392" y="734056"/>
            <a:chExt cx="745763" cy="4582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1366812" y="570539"/>
              <a:ext cx="45826" cy="372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995485" y="568963"/>
              <a:ext cx="45826" cy="37601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7340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8614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325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43604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5" name="Google Shape;55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3" name="Google Shape;6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1" name="Google Shape;8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248581" y="1058667"/>
            <a:ext cx="85992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 sz="2100"/>
            </a:lvl2pPr>
            <a:lvl3pPr indent="-342900" lvl="2" marL="13716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indent="-323850" lvl="3" marL="18288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3" name="Google Shape;93;p13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248574" y="1171870"/>
            <a:ext cx="42663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629150" y="1171870"/>
            <a:ext cx="42186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4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43230"/>
          </a:srgbClr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Web Design</a:t>
            </a:r>
            <a:endParaRPr/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Continuação de textos com CSS; Borda, margem e preenchimento.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Formatação de Texto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Espaçamento entre letras</a:t>
            </a:r>
            <a:r>
              <a:rPr lang="pt-BR" sz="1500"/>
              <a:t>:</a:t>
            </a:r>
            <a:endParaRPr sz="1500"/>
          </a:p>
          <a:p>
            <a:pPr indent="0" lvl="0" marL="4572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500"/>
              <a:t>letter-spacing: normal;</a:t>
            </a:r>
            <a:endParaRPr b="1" sz="1500"/>
          </a:p>
          <a:p>
            <a:pPr indent="0" lvl="0" marL="4572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500"/>
              <a:t>letter-spacing: 2px;</a:t>
            </a:r>
            <a:endParaRPr b="1" sz="1500"/>
          </a:p>
          <a:p>
            <a:pPr indent="0" lvl="0" marL="4572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500"/>
              <a:t>letter-spacing: -2px;</a:t>
            </a:r>
            <a:endParaRPr b="1" sz="15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500"/>
              <a:t>Espaçamento entre palavras:</a:t>
            </a:r>
            <a:endParaRPr sz="15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500"/>
              <a:t>	</a:t>
            </a:r>
            <a:r>
              <a:rPr b="1" lang="pt-BR" sz="1500"/>
              <a:t>word-spacing: normal;</a:t>
            </a:r>
            <a:endParaRPr b="1" sz="1500"/>
          </a:p>
          <a:p>
            <a:pPr indent="45720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500"/>
              <a:t>word-spacing: 2px;</a:t>
            </a:r>
            <a:endParaRPr b="1" sz="1500"/>
          </a:p>
          <a:p>
            <a:pPr indent="45720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500"/>
              <a:t>word-spacing: -2px;</a:t>
            </a:r>
            <a:endParaRPr b="1" sz="1500"/>
          </a:p>
          <a:p>
            <a:pPr indent="45720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500"/>
              <a:t>Espaçamento entre linhas:</a:t>
            </a:r>
            <a:endParaRPr sz="15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500"/>
              <a:t>	</a:t>
            </a:r>
            <a:r>
              <a:rPr b="1" lang="pt-BR" sz="1500"/>
              <a:t>line-height: normal;</a:t>
            </a:r>
            <a:endParaRPr b="1" sz="15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500"/>
              <a:t>	line-height: 2px;</a:t>
            </a:r>
            <a:endParaRPr b="1" sz="15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pt-BR" sz="1500"/>
              <a:t>	line-height: -2px;</a:t>
            </a:r>
            <a:endParaRPr b="1" sz="1500"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988" y="1621675"/>
            <a:ext cx="273367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Bordas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Todo elemento no HTML possui uma borda, porém sua configuração padrão faz com que ela não seja visível;</a:t>
            </a:r>
            <a:endParaRPr sz="1900"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900"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900"/>
              <a:t>A propriedade </a:t>
            </a:r>
            <a:r>
              <a:rPr b="1" lang="pt-BR" sz="1900"/>
              <a:t>border-style</a:t>
            </a:r>
            <a:r>
              <a:rPr lang="pt-BR" sz="1900"/>
              <a:t> especifica o tipo de borda será exibida.</a:t>
            </a:r>
            <a:endParaRPr sz="1900"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729450" y="1396650"/>
            <a:ext cx="7688700" cy="3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305"/>
              <a:t>Tipos de bordas:</a:t>
            </a:r>
            <a:endParaRPr sz="1305"/>
          </a:p>
          <a:p>
            <a:pPr indent="0" lvl="0" marL="457200" rtl="0" algn="l">
              <a:lnSpc>
                <a:spcPct val="180000"/>
              </a:lnSpc>
              <a:spcBef>
                <a:spcPts val="400"/>
              </a:spcBef>
              <a:spcAft>
                <a:spcPts val="0"/>
              </a:spcAft>
              <a:buSzPts val="935"/>
              <a:buNone/>
            </a:pPr>
            <a:r>
              <a:rPr lang="pt-BR" sz="1305"/>
              <a:t>dotted;</a:t>
            </a:r>
            <a:endParaRPr sz="1305"/>
          </a:p>
          <a:p>
            <a:pPr indent="0" lvl="0" marL="457200" rtl="0" algn="l">
              <a:lnSpc>
                <a:spcPct val="180000"/>
              </a:lnSpc>
              <a:spcBef>
                <a:spcPts val="400"/>
              </a:spcBef>
              <a:spcAft>
                <a:spcPts val="0"/>
              </a:spcAft>
              <a:buSzPts val="935"/>
              <a:buNone/>
            </a:pPr>
            <a:r>
              <a:rPr lang="pt-BR" sz="1305"/>
              <a:t>dashed;</a:t>
            </a:r>
            <a:endParaRPr sz="1305"/>
          </a:p>
          <a:p>
            <a:pPr indent="0" lvl="0" marL="457200" rtl="0" algn="l">
              <a:lnSpc>
                <a:spcPct val="180000"/>
              </a:lnSpc>
              <a:spcBef>
                <a:spcPts val="400"/>
              </a:spcBef>
              <a:spcAft>
                <a:spcPts val="0"/>
              </a:spcAft>
              <a:buSzPts val="935"/>
              <a:buNone/>
            </a:pPr>
            <a:r>
              <a:rPr lang="pt-BR" sz="1305"/>
              <a:t>solid;</a:t>
            </a:r>
            <a:endParaRPr sz="1305"/>
          </a:p>
          <a:p>
            <a:pPr indent="0" lvl="0" marL="457200" rtl="0" algn="l">
              <a:lnSpc>
                <a:spcPct val="180000"/>
              </a:lnSpc>
              <a:spcBef>
                <a:spcPts val="400"/>
              </a:spcBef>
              <a:spcAft>
                <a:spcPts val="0"/>
              </a:spcAft>
              <a:buSzPts val="935"/>
              <a:buNone/>
            </a:pPr>
            <a:r>
              <a:rPr lang="pt-BR" sz="1305"/>
              <a:t>double;</a:t>
            </a:r>
            <a:endParaRPr sz="1305"/>
          </a:p>
          <a:p>
            <a:pPr indent="0" lvl="0" marL="457200" rtl="0" algn="l">
              <a:lnSpc>
                <a:spcPct val="180000"/>
              </a:lnSpc>
              <a:spcBef>
                <a:spcPts val="400"/>
              </a:spcBef>
              <a:spcAft>
                <a:spcPts val="0"/>
              </a:spcAft>
              <a:buSzPts val="935"/>
              <a:buNone/>
            </a:pPr>
            <a:r>
              <a:rPr lang="pt-BR" sz="1305"/>
              <a:t>groove;</a:t>
            </a:r>
            <a:endParaRPr sz="1305"/>
          </a:p>
          <a:p>
            <a:pPr indent="0" lvl="0" marL="457200" rtl="0" algn="l">
              <a:lnSpc>
                <a:spcPct val="180000"/>
              </a:lnSpc>
              <a:spcBef>
                <a:spcPts val="400"/>
              </a:spcBef>
              <a:spcAft>
                <a:spcPts val="0"/>
              </a:spcAft>
              <a:buSzPts val="935"/>
              <a:buNone/>
            </a:pPr>
            <a:r>
              <a:rPr lang="pt-BR" sz="1305"/>
              <a:t>ridge;</a:t>
            </a:r>
            <a:endParaRPr sz="1305"/>
          </a:p>
          <a:p>
            <a:pPr indent="0" lvl="0" marL="457200" rtl="0" algn="l">
              <a:lnSpc>
                <a:spcPct val="180000"/>
              </a:lnSpc>
              <a:spcBef>
                <a:spcPts val="400"/>
              </a:spcBef>
              <a:spcAft>
                <a:spcPts val="0"/>
              </a:spcAft>
              <a:buSzPts val="935"/>
              <a:buNone/>
            </a:pPr>
            <a:r>
              <a:rPr lang="pt-BR" sz="1305"/>
              <a:t>inset;</a:t>
            </a:r>
            <a:endParaRPr sz="1305"/>
          </a:p>
          <a:p>
            <a:pPr indent="0" lvl="0" marL="457200" rtl="0" algn="l">
              <a:lnSpc>
                <a:spcPct val="180000"/>
              </a:lnSpc>
              <a:spcBef>
                <a:spcPts val="400"/>
              </a:spcBef>
              <a:spcAft>
                <a:spcPts val="0"/>
              </a:spcAft>
              <a:buSzPts val="935"/>
              <a:buNone/>
            </a:pPr>
            <a:r>
              <a:rPr lang="pt-BR" sz="1305"/>
              <a:t>outset;</a:t>
            </a:r>
            <a:endParaRPr sz="1305"/>
          </a:p>
        </p:txBody>
      </p:sp>
      <p:sp>
        <p:nvSpPr>
          <p:cNvPr id="133" name="Google Shape;133;p1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Bordas</a:t>
            </a:r>
            <a:endParaRPr/>
          </a:p>
        </p:txBody>
      </p:sp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5" name="Google Shape;135;p18"/>
          <p:cNvPicPr preferRelativeResize="0"/>
          <p:nvPr/>
        </p:nvPicPr>
        <p:blipFill rotWithShape="1">
          <a:blip r:embed="rId3">
            <a:alphaModFix/>
          </a:blip>
          <a:srcRect b="20660" l="0" r="0" t="0"/>
          <a:stretch/>
        </p:blipFill>
        <p:spPr>
          <a:xfrm>
            <a:off x="4572000" y="1272125"/>
            <a:ext cx="3400150" cy="355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Bordas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729450" y="1396650"/>
            <a:ext cx="7688700" cy="3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Largura da borda:</a:t>
            </a:r>
            <a:endParaRPr sz="1600"/>
          </a:p>
          <a:p>
            <a:pPr indent="0" lvl="0" marL="4572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/>
              <a:t>A propriedade </a:t>
            </a:r>
            <a:r>
              <a:rPr b="1" lang="pt-BR" sz="1600"/>
              <a:t>border-width</a:t>
            </a:r>
            <a:r>
              <a:rPr lang="pt-BR" sz="1600"/>
              <a:t> especifica a largura da borda de um elemento. Esta largura pode ser definida em pixels;</a:t>
            </a:r>
            <a:endParaRPr sz="1600"/>
          </a:p>
          <a:p>
            <a:pPr indent="0" lvl="0" marL="4572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/>
              <a:t>Exemplo:</a:t>
            </a:r>
            <a:endParaRPr sz="16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300"/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996" y="2907798"/>
            <a:ext cx="6355598" cy="42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9695" y="3433216"/>
            <a:ext cx="4124610" cy="142811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Bordas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729450" y="1396650"/>
            <a:ext cx="7688700" cy="3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Cor da borda:</a:t>
            </a:r>
            <a:endParaRPr sz="1500"/>
          </a:p>
          <a:p>
            <a:pPr indent="0" lvl="0" marL="4572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500"/>
              <a:t>A propriedade </a:t>
            </a:r>
            <a:r>
              <a:rPr b="1" lang="pt-BR" sz="1500"/>
              <a:t>border-color</a:t>
            </a:r>
            <a:r>
              <a:rPr lang="pt-BR" sz="1500"/>
              <a:t> define a cor da borda;</a:t>
            </a:r>
            <a:endParaRPr sz="1500"/>
          </a:p>
          <a:p>
            <a:pPr indent="0" lvl="0" marL="4572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500"/>
              <a:t>Exemplo:</a:t>
            </a:r>
            <a:endParaRPr sz="15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125" y="2639068"/>
            <a:ext cx="7735751" cy="528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7205" y="3223050"/>
            <a:ext cx="4541830" cy="18598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Bordas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Modificando apenas uma das bordas:</a:t>
            </a:r>
            <a:endParaRPr sz="1600"/>
          </a:p>
          <a:p>
            <a:pPr indent="-38100" lvl="1" marL="5080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400"/>
          </a:p>
          <a:p>
            <a:pPr indent="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/>
              <a:t>Caso a necessidade de modificação da propriedade seja em apenas uma borda, pode-se especificar qual se deseja modificar utilizando um dos comandos:</a:t>
            </a:r>
            <a:endParaRPr sz="1600"/>
          </a:p>
          <a:p>
            <a:pPr indent="-50800" lvl="2" marL="8509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400"/>
          </a:p>
          <a:p>
            <a:pPr indent="0" lvl="0" marL="9144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/>
              <a:t>Top, para a borda superior;</a:t>
            </a:r>
            <a:endParaRPr sz="1600"/>
          </a:p>
          <a:p>
            <a:pPr indent="0" lvl="0" marL="9144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/>
              <a:t>Left, para a borda esquerda;</a:t>
            </a:r>
            <a:endParaRPr sz="1600"/>
          </a:p>
          <a:p>
            <a:pPr indent="0" lvl="0" marL="9144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/>
              <a:t>Right, para a borda direita;</a:t>
            </a:r>
            <a:endParaRPr sz="1600"/>
          </a:p>
          <a:p>
            <a:pPr indent="0" lvl="0" marL="9144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/>
              <a:t>Bottom, para a borda inferior.</a:t>
            </a:r>
            <a:endParaRPr sz="16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Bordas</a:t>
            </a:r>
            <a:endParaRPr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Modificando apenas uma das bordas:</a:t>
            </a:r>
            <a:endParaRPr sz="18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67" name="Google Shape;1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515" y="2069970"/>
            <a:ext cx="7343386" cy="53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92" y="2841906"/>
            <a:ext cx="5989296" cy="203614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Bordas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Estilização da borda com comando curto:</a:t>
            </a:r>
            <a:endParaRPr sz="18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50" y="2194562"/>
            <a:ext cx="4553449" cy="15480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1267" y="3964066"/>
            <a:ext cx="5917737" cy="108985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Bordas</a:t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729450" y="1463925"/>
            <a:ext cx="7688700" cy="3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Borda arredondada:</a:t>
            </a:r>
            <a:endParaRPr sz="1700"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/>
              <a:t>Para arredondar uma borda, utiliza-se a propriedade </a:t>
            </a:r>
            <a:r>
              <a:rPr b="1" lang="pt-BR" sz="1700"/>
              <a:t>border-radius</a:t>
            </a:r>
            <a:r>
              <a:rPr lang="pt-BR" sz="1700"/>
              <a:t>. Ela pode receber um valor em pixel ou em porcentagem:</a:t>
            </a:r>
            <a:endParaRPr sz="17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1817" y="2381231"/>
            <a:ext cx="5680366" cy="990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9189" y="3378587"/>
            <a:ext cx="5497861" cy="155894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Margem</a:t>
            </a:r>
            <a:endParaRPr/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A margem é o espaço existente ao redor de um elemento;</a:t>
            </a:r>
            <a:endParaRPr sz="1700"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700"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700"/>
              <a:t>Pode ser definida para todos os lados ao mesmo tempo, ou para um lado específico.</a:t>
            </a:r>
            <a:endParaRPr sz="1700"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94" name="Google Shape;194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Margem</a:t>
            </a:r>
            <a:endParaRPr/>
          </a:p>
        </p:txBody>
      </p:sp>
      <p:sp>
        <p:nvSpPr>
          <p:cNvPr id="200" name="Google Shape;200;p2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Exemplo:</a:t>
            </a:r>
            <a:endParaRPr sz="2000"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01" name="Google Shape;201;p26"/>
          <p:cNvPicPr preferRelativeResize="0"/>
          <p:nvPr/>
        </p:nvPicPr>
        <p:blipFill rotWithShape="1">
          <a:blip r:embed="rId3">
            <a:alphaModFix/>
          </a:blip>
          <a:srcRect b="19794" l="0" r="12041" t="0"/>
          <a:stretch/>
        </p:blipFill>
        <p:spPr>
          <a:xfrm>
            <a:off x="5102575" y="1455599"/>
            <a:ext cx="3293975" cy="22565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02" name="Google Shape;202;p26"/>
          <p:cNvCxnSpPr/>
          <p:nvPr/>
        </p:nvCxnSpPr>
        <p:spPr>
          <a:xfrm>
            <a:off x="6221869" y="1455597"/>
            <a:ext cx="0" cy="96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3" name="Google Shape;203;p26"/>
          <p:cNvCxnSpPr/>
          <p:nvPr/>
        </p:nvCxnSpPr>
        <p:spPr>
          <a:xfrm rot="10800000">
            <a:off x="5583476" y="1969992"/>
            <a:ext cx="0" cy="96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4" name="Google Shape;204;p26"/>
          <p:cNvCxnSpPr/>
          <p:nvPr/>
        </p:nvCxnSpPr>
        <p:spPr>
          <a:xfrm>
            <a:off x="6223744" y="2750372"/>
            <a:ext cx="0" cy="96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5" name="Google Shape;205;p26"/>
          <p:cNvSpPr txBox="1"/>
          <p:nvPr/>
        </p:nvSpPr>
        <p:spPr>
          <a:xfrm>
            <a:off x="5319327" y="2057399"/>
            <a:ext cx="68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50px</a:t>
            </a:r>
            <a:endParaRPr sz="1100"/>
          </a:p>
        </p:txBody>
      </p:sp>
      <p:sp>
        <p:nvSpPr>
          <p:cNvPr id="206" name="Google Shape;206;p26"/>
          <p:cNvSpPr txBox="1"/>
          <p:nvPr/>
        </p:nvSpPr>
        <p:spPr>
          <a:xfrm>
            <a:off x="6289325" y="1739634"/>
            <a:ext cx="68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50px</a:t>
            </a:r>
            <a:endParaRPr sz="1100"/>
          </a:p>
        </p:txBody>
      </p:sp>
      <p:sp>
        <p:nvSpPr>
          <p:cNvPr id="207" name="Google Shape;207;p26"/>
          <p:cNvSpPr txBox="1"/>
          <p:nvPr/>
        </p:nvSpPr>
        <p:spPr>
          <a:xfrm>
            <a:off x="5536069" y="3018966"/>
            <a:ext cx="68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50px</a:t>
            </a:r>
            <a:endParaRPr sz="1100"/>
          </a:p>
        </p:txBody>
      </p:sp>
      <p:cxnSp>
        <p:nvCxnSpPr>
          <p:cNvPr id="208" name="Google Shape;208;p26"/>
          <p:cNvCxnSpPr/>
          <p:nvPr/>
        </p:nvCxnSpPr>
        <p:spPr>
          <a:xfrm rot="10800000">
            <a:off x="7915884" y="2166738"/>
            <a:ext cx="0" cy="96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26"/>
          <p:cNvSpPr txBox="1"/>
          <p:nvPr/>
        </p:nvSpPr>
        <p:spPr>
          <a:xfrm>
            <a:off x="7651735" y="2254145"/>
            <a:ext cx="68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50px</a:t>
            </a:r>
            <a:endParaRPr sz="1100"/>
          </a:p>
        </p:txBody>
      </p:sp>
      <p:pic>
        <p:nvPicPr>
          <p:cNvPr id="210" name="Google Shape;21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196" y="2373722"/>
            <a:ext cx="3482354" cy="133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Margem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18" name="Google Shape;2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327" y="2008149"/>
            <a:ext cx="5199715" cy="106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/>
        </p:nvSpPr>
        <p:spPr>
          <a:xfrm>
            <a:off x="2116928" y="1750037"/>
            <a:ext cx="68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100"/>
          </a:p>
        </p:txBody>
      </p:sp>
      <p:sp>
        <p:nvSpPr>
          <p:cNvPr id="220" name="Google Shape;220;p27"/>
          <p:cNvSpPr txBox="1"/>
          <p:nvPr/>
        </p:nvSpPr>
        <p:spPr>
          <a:xfrm>
            <a:off x="2896184" y="1754253"/>
            <a:ext cx="68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3750628" y="1754250"/>
            <a:ext cx="872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4623329" y="1750037"/>
            <a:ext cx="68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9473" y="2956042"/>
            <a:ext cx="3864769" cy="20216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Margem</a:t>
            </a:r>
            <a:endParaRPr/>
          </a:p>
        </p:txBody>
      </p:sp>
      <p:sp>
        <p:nvSpPr>
          <p:cNvPr id="230" name="Google Shape;230;p2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O valor auto:</a:t>
            </a:r>
            <a:endParaRPr sz="2100"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2100"/>
              <a:t>Com o valor auto, as margens laterais serão ajustadas automaticamente. Pode ser utilizado para centralizar horizontalmente elementos que estão dentro de um container.</a:t>
            </a:r>
            <a:endParaRPr sz="21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Margem</a:t>
            </a:r>
            <a:endParaRPr/>
          </a:p>
        </p:txBody>
      </p:sp>
      <p:sp>
        <p:nvSpPr>
          <p:cNvPr id="237" name="Google Shape;237;p2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O valor auto: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38" name="Google Shape;2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0044" y="987001"/>
            <a:ext cx="3779044" cy="267890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996" y="1593642"/>
            <a:ext cx="3350419" cy="171872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0" name="Google Shape;24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067" y="3847339"/>
            <a:ext cx="4970629" cy="9315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Preenchimento</a:t>
            </a:r>
            <a:endParaRPr/>
          </a:p>
        </p:txBody>
      </p:sp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O preenchimento é um espaço existente em elementos HTML que fica na parte interna;</a:t>
            </a:r>
            <a:endParaRPr sz="1600"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600"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600"/>
              <a:t>É definido a partir da propriedade </a:t>
            </a:r>
            <a:r>
              <a:rPr b="1" lang="pt-BR" sz="1600"/>
              <a:t>padding</a:t>
            </a:r>
            <a:r>
              <a:rPr lang="pt-BR" sz="1600"/>
              <a:t>.</a:t>
            </a:r>
            <a:endParaRPr sz="1600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49" name="Google Shape;249;p30"/>
          <p:cNvPicPr preferRelativeResize="0"/>
          <p:nvPr/>
        </p:nvPicPr>
        <p:blipFill rotWithShape="1">
          <a:blip r:embed="rId3">
            <a:alphaModFix/>
          </a:blip>
          <a:srcRect b="32013" l="67501" r="8935" t="33872"/>
          <a:stretch/>
        </p:blipFill>
        <p:spPr>
          <a:xfrm>
            <a:off x="5631474" y="2359675"/>
            <a:ext cx="3216199" cy="261805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Preenchimento</a:t>
            </a:r>
            <a:endParaRPr/>
          </a:p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45720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900"/>
              <a:t>Exemplo:</a:t>
            </a:r>
            <a:endParaRPr sz="1900"/>
          </a:p>
        </p:txBody>
      </p:sp>
      <p:pic>
        <p:nvPicPr>
          <p:cNvPr id="257" name="Google Shape;25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327" y="2048089"/>
            <a:ext cx="4424691" cy="13771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8" name="Google Shape;25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4335" y="3289702"/>
            <a:ext cx="3793331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box-sizing</a:t>
            </a:r>
            <a:endParaRPr/>
          </a:p>
        </p:txBody>
      </p:sp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A propriedade CSS box-sizing é utilizada para alterar a propriedade padrão da box model, usada para calcular larguras (widths) e alturas (heights) dos elementos. </a:t>
            </a:r>
            <a:endParaRPr sz="17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700"/>
              <a:t>É possível usar essa propriedade para emular o comportamento dos navegadores (browsers) que não suportam corretamente a especificação da propriedade CSS box model.</a:t>
            </a:r>
            <a:endParaRPr sz="1700"/>
          </a:p>
        </p:txBody>
      </p:sp>
      <p:sp>
        <p:nvSpPr>
          <p:cNvPr id="266" name="Google Shape;266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7" name="Google Shape;267;p32"/>
          <p:cNvPicPr preferRelativeResize="0"/>
          <p:nvPr/>
        </p:nvPicPr>
        <p:blipFill rotWithShape="1">
          <a:blip r:embed="rId3">
            <a:alphaModFix/>
          </a:blip>
          <a:srcRect b="44247" l="0" r="59056" t="4296"/>
          <a:stretch/>
        </p:blipFill>
        <p:spPr>
          <a:xfrm>
            <a:off x="6231975" y="3508125"/>
            <a:ext cx="2366900" cy="16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box-sizing</a:t>
            </a:r>
            <a:endParaRPr/>
          </a:p>
        </p:txBody>
      </p:sp>
      <p:sp>
        <p:nvSpPr>
          <p:cNvPr id="273" name="Google Shape;273;p3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/>
              <a:t>Valores:</a:t>
            </a:r>
            <a:endParaRPr b="1" sz="1700"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700"/>
              <a:t>content-box</a:t>
            </a:r>
            <a:endParaRPr b="1" sz="1700"/>
          </a:p>
          <a:p>
            <a:pPr indent="0" lvl="0" marL="719999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700"/>
              <a:t>Essa é o estilo padrão. As propriedades width e height são medidas incluindo só o conteúdo, mas não o padding, border ou margin, ou seja, padding, border e margin serão acrescidos ao tamanho do elemento.</a:t>
            </a:r>
            <a:endParaRPr sz="1700"/>
          </a:p>
          <a:p>
            <a:pPr indent="0" lvl="0" marL="719999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700"/>
              <a:t>Exemplo.:</a:t>
            </a:r>
            <a:r>
              <a:rPr lang="pt-BR" sz="1700"/>
              <a:t> Se o elemento tiver {width: 350px}, então se aplicar uma propriedade {border: 10px solid black;} o resultado renderizado no navegador será elemento {width: 370px;}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box-sizing</a:t>
            </a:r>
            <a:endParaRPr/>
          </a:p>
        </p:txBody>
      </p:sp>
      <p:sp>
        <p:nvSpPr>
          <p:cNvPr id="280" name="Google Shape;280;p3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/>
              <a:t>Valores:</a:t>
            </a:r>
            <a:endParaRPr b="1" sz="1700"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700"/>
              <a:t>border-box</a:t>
            </a:r>
            <a:endParaRPr b="1" sz="1700"/>
          </a:p>
          <a:p>
            <a:pPr indent="0" lvl="0" marL="719999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700"/>
              <a:t>As propriedades width e height incluem o tamanho do padding  e a propriedade border, mas não incluem a propriedade margin.</a:t>
            </a:r>
            <a:endParaRPr sz="1700"/>
          </a:p>
          <a:p>
            <a:pPr indent="0" lvl="0" marL="719999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700"/>
              <a:t>Exemplo.:</a:t>
            </a:r>
            <a:r>
              <a:rPr lang="pt-BR" sz="1700"/>
              <a:t> Se o elemento tiver {width: 350px}, então se aplicar uma propriedade {border: 10px solid black;} e {margin: 10px}, o resultado renderizado no navegador será elemento {width: 370px;}.</a:t>
            </a:r>
            <a:endParaRPr sz="1700"/>
          </a:p>
          <a:p>
            <a:pPr indent="0" lvl="0" marL="719999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719999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719999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