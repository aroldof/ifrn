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>
  <p:cSld name="Slide de títul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/>
        </p:nvSpPr>
        <p:spPr>
          <a:xfrm>
            <a:off x="0" y="1962964"/>
            <a:ext cx="12192000" cy="2857230"/>
          </a:xfrm>
          <a:prstGeom prst="rect">
            <a:avLst/>
          </a:prstGeom>
          <a:solidFill>
            <a:srgbClr val="8DC63F"/>
          </a:solidFill>
          <a:ln cap="flat" cmpd="sng" w="9525">
            <a:solidFill>
              <a:srgbClr val="8DC6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t/>
            </a:r>
            <a:endParaRPr b="1" i="0" sz="4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 txBox="1"/>
          <p:nvPr>
            <p:ph type="ctrTitle"/>
          </p:nvPr>
        </p:nvSpPr>
        <p:spPr>
          <a:xfrm>
            <a:off x="914400" y="2082844"/>
            <a:ext cx="10363200" cy="18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/>
        </p:nvSpPr>
        <p:spPr>
          <a:xfrm>
            <a:off x="0" y="6351735"/>
            <a:ext cx="12192000" cy="500775"/>
          </a:xfrm>
          <a:prstGeom prst="rect">
            <a:avLst/>
          </a:prstGeom>
          <a:solidFill>
            <a:srgbClr val="8DC63F"/>
          </a:solidFill>
          <a:ln cap="flat" cmpd="sng" w="9525">
            <a:solidFill>
              <a:srgbClr val="8DC6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914400" y="4180995"/>
            <a:ext cx="10363200" cy="456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2"/>
          <p:cNvSpPr txBox="1"/>
          <p:nvPr>
            <p:ph idx="10" type="dt"/>
          </p:nvPr>
        </p:nvSpPr>
        <p:spPr>
          <a:xfrm>
            <a:off x="4724400" y="641955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2">
            <a:alphaModFix/>
          </a:blip>
          <a:srcRect b="0" l="0" r="71488" t="0"/>
          <a:stretch/>
        </p:blipFill>
        <p:spPr>
          <a:xfrm>
            <a:off x="184453" y="296952"/>
            <a:ext cx="1088175" cy="144151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/>
          <p:cNvSpPr txBox="1"/>
          <p:nvPr/>
        </p:nvSpPr>
        <p:spPr>
          <a:xfrm>
            <a:off x="1422400" y="270321"/>
            <a:ext cx="9931400" cy="1611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INSTITUTO FEDERAL DE EDUCAÇÃO, CIÊNCIA E TECNOLOGIA DO RIO GRANDE DO NORTE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CAMPUS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Pau dos Ferros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"/>
          <p:cNvSpPr txBox="1"/>
          <p:nvPr>
            <p:ph idx="2" type="body"/>
          </p:nvPr>
        </p:nvSpPr>
        <p:spPr>
          <a:xfrm>
            <a:off x="914400" y="4924425"/>
            <a:ext cx="10363200" cy="1293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/>
          <p:nvPr/>
        </p:nvSpPr>
        <p:spPr>
          <a:xfrm>
            <a:off x="0" y="6490124"/>
            <a:ext cx="12192000" cy="362369"/>
          </a:xfrm>
          <a:prstGeom prst="rect">
            <a:avLst/>
          </a:prstGeom>
          <a:solidFill>
            <a:srgbClr val="8DC63F"/>
          </a:solidFill>
          <a:ln cap="flat" cmpd="sng" w="12700">
            <a:solidFill>
              <a:srgbClr val="8DC6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331432" y="186445"/>
            <a:ext cx="11465456" cy="956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" type="body"/>
          </p:nvPr>
        </p:nvSpPr>
        <p:spPr>
          <a:xfrm>
            <a:off x="331442" y="1411556"/>
            <a:ext cx="11465455" cy="4765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0" type="dt"/>
          </p:nvPr>
        </p:nvSpPr>
        <p:spPr>
          <a:xfrm>
            <a:off x="236089" y="6490125"/>
            <a:ext cx="18360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1" type="ftr"/>
          </p:nvPr>
        </p:nvSpPr>
        <p:spPr>
          <a:xfrm>
            <a:off x="2308193" y="6492888"/>
            <a:ext cx="85580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2" type="sldNum"/>
          </p:nvPr>
        </p:nvSpPr>
        <p:spPr>
          <a:xfrm>
            <a:off x="11057914" y="6490124"/>
            <a:ext cx="94245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0" y="1142809"/>
            <a:ext cx="12192000" cy="106532"/>
          </a:xfrm>
          <a:prstGeom prst="rect">
            <a:avLst/>
          </a:prstGeom>
          <a:solidFill>
            <a:srgbClr val="8DC63F"/>
          </a:solidFill>
          <a:ln cap="flat" cmpd="sng" w="12700">
            <a:solidFill>
              <a:srgbClr val="8DC6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0" y="1142809"/>
            <a:ext cx="331432" cy="106532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>
  <p:cSld name="Duas Partes de Conteúdo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0" y="1142809"/>
            <a:ext cx="12192000" cy="106532"/>
          </a:xfrm>
          <a:prstGeom prst="rect">
            <a:avLst/>
          </a:prstGeom>
          <a:solidFill>
            <a:srgbClr val="8DC63F"/>
          </a:solidFill>
          <a:ln cap="flat" cmpd="sng" w="12700">
            <a:solidFill>
              <a:srgbClr val="8DC6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0" y="6490124"/>
            <a:ext cx="12192000" cy="362369"/>
          </a:xfrm>
          <a:prstGeom prst="rect">
            <a:avLst/>
          </a:prstGeom>
          <a:solidFill>
            <a:srgbClr val="8DC63F"/>
          </a:solidFill>
          <a:ln cap="flat" cmpd="sng" w="12700">
            <a:solidFill>
              <a:srgbClr val="8DC6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31432" y="1562493"/>
            <a:ext cx="5688368" cy="4614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2" type="body"/>
          </p:nvPr>
        </p:nvSpPr>
        <p:spPr>
          <a:xfrm>
            <a:off x="6172200" y="1562493"/>
            <a:ext cx="5624688" cy="4614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4"/>
          <p:cNvSpPr/>
          <p:nvPr/>
        </p:nvSpPr>
        <p:spPr>
          <a:xfrm>
            <a:off x="0" y="1142809"/>
            <a:ext cx="331432" cy="106532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>
            <p:ph type="title"/>
          </p:nvPr>
        </p:nvSpPr>
        <p:spPr>
          <a:xfrm>
            <a:off x="331432" y="186445"/>
            <a:ext cx="11465456" cy="956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236089" y="6490125"/>
            <a:ext cx="18360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2308193" y="6492888"/>
            <a:ext cx="85580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11057914" y="6490124"/>
            <a:ext cx="94245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usa">
  <p:cSld name="Pausa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>
            <a:off x="0" y="1755559"/>
            <a:ext cx="12192000" cy="3346882"/>
          </a:xfrm>
          <a:prstGeom prst="rect">
            <a:avLst/>
          </a:prstGeom>
          <a:solidFill>
            <a:srgbClr val="8DC63F"/>
          </a:solidFill>
          <a:ln cap="flat" cmpd="sng" w="12700">
            <a:solidFill>
              <a:srgbClr val="8DC6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 txBox="1"/>
          <p:nvPr>
            <p:ph type="title"/>
          </p:nvPr>
        </p:nvSpPr>
        <p:spPr>
          <a:xfrm>
            <a:off x="838200" y="250825"/>
            <a:ext cx="10515600" cy="6356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0" type="dt"/>
          </p:nvPr>
        </p:nvSpPr>
        <p:spPr>
          <a:xfrm>
            <a:off x="838200" y="635636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1" type="ftr"/>
          </p:nvPr>
        </p:nvSpPr>
        <p:spPr>
          <a:xfrm>
            <a:off x="4038600" y="635636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2" type="sldNum"/>
          </p:nvPr>
        </p:nvSpPr>
        <p:spPr>
          <a:xfrm>
            <a:off x="8610600" y="635636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/>
          <p:nvPr>
            <p:ph type="title"/>
          </p:nvPr>
        </p:nvSpPr>
        <p:spPr>
          <a:xfrm>
            <a:off x="831851" y="1709752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" type="body"/>
          </p:nvPr>
        </p:nvSpPr>
        <p:spPr>
          <a:xfrm>
            <a:off x="831851" y="4589477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2" name="Google Shape;52;p6"/>
          <p:cNvSpPr txBox="1"/>
          <p:nvPr>
            <p:ph idx="10" type="dt"/>
          </p:nvPr>
        </p:nvSpPr>
        <p:spPr>
          <a:xfrm>
            <a:off x="838200" y="635636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1" type="ftr"/>
          </p:nvPr>
        </p:nvSpPr>
        <p:spPr>
          <a:xfrm>
            <a:off x="4038600" y="635636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2" type="sldNum"/>
          </p:nvPr>
        </p:nvSpPr>
        <p:spPr>
          <a:xfrm>
            <a:off x="8610600" y="635636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type="title"/>
          </p:nvPr>
        </p:nvSpPr>
        <p:spPr>
          <a:xfrm>
            <a:off x="839788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7"/>
          <p:cNvSpPr txBox="1"/>
          <p:nvPr>
            <p:ph idx="2" type="body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3" type="body"/>
          </p:nvPr>
        </p:nvSpPr>
        <p:spPr>
          <a:xfrm>
            <a:off x="6172203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7"/>
          <p:cNvSpPr txBox="1"/>
          <p:nvPr>
            <p:ph idx="4" type="body"/>
          </p:nvPr>
        </p:nvSpPr>
        <p:spPr>
          <a:xfrm>
            <a:off x="6172203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0" type="dt"/>
          </p:nvPr>
        </p:nvSpPr>
        <p:spPr>
          <a:xfrm>
            <a:off x="838200" y="635636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1" type="ftr"/>
          </p:nvPr>
        </p:nvSpPr>
        <p:spPr>
          <a:xfrm>
            <a:off x="4038600" y="635636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2" type="sldNum"/>
          </p:nvPr>
        </p:nvSpPr>
        <p:spPr>
          <a:xfrm>
            <a:off x="8610600" y="635636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/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0" type="dt"/>
          </p:nvPr>
        </p:nvSpPr>
        <p:spPr>
          <a:xfrm>
            <a:off x="838200" y="635636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1" type="ftr"/>
          </p:nvPr>
        </p:nvSpPr>
        <p:spPr>
          <a:xfrm>
            <a:off x="4038600" y="635636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2" type="sldNum"/>
          </p:nvPr>
        </p:nvSpPr>
        <p:spPr>
          <a:xfrm>
            <a:off x="8610600" y="635636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10" type="dt"/>
          </p:nvPr>
        </p:nvSpPr>
        <p:spPr>
          <a:xfrm>
            <a:off x="838200" y="635636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1" type="ftr"/>
          </p:nvPr>
        </p:nvSpPr>
        <p:spPr>
          <a:xfrm>
            <a:off x="4038600" y="635636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610600" y="635636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" type="body"/>
          </p:nvPr>
        </p:nvSpPr>
        <p:spPr>
          <a:xfrm>
            <a:off x="5183188" y="987439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0"/>
          <p:cNvSpPr txBox="1"/>
          <p:nvPr>
            <p:ph idx="10" type="dt"/>
          </p:nvPr>
        </p:nvSpPr>
        <p:spPr>
          <a:xfrm>
            <a:off x="838200" y="635636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1" type="ftr"/>
          </p:nvPr>
        </p:nvSpPr>
        <p:spPr>
          <a:xfrm>
            <a:off x="4038600" y="635636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0"/>
          <p:cNvSpPr txBox="1"/>
          <p:nvPr>
            <p:ph idx="12" type="sldNum"/>
          </p:nvPr>
        </p:nvSpPr>
        <p:spPr>
          <a:xfrm>
            <a:off x="8610600" y="635636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/>
          <p:nvPr>
            <p:ph idx="2" type="pic"/>
          </p:nvPr>
        </p:nvSpPr>
        <p:spPr>
          <a:xfrm>
            <a:off x="5183188" y="987439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11"/>
          <p:cNvSpPr txBox="1"/>
          <p:nvPr>
            <p:ph idx="10" type="dt"/>
          </p:nvPr>
        </p:nvSpPr>
        <p:spPr>
          <a:xfrm>
            <a:off x="838200" y="635636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1" type="ftr"/>
          </p:nvPr>
        </p:nvSpPr>
        <p:spPr>
          <a:xfrm>
            <a:off x="4038600" y="635636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2" type="sldNum"/>
          </p:nvPr>
        </p:nvSpPr>
        <p:spPr>
          <a:xfrm>
            <a:off x="8610600" y="635636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 txBox="1"/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0" type="dt"/>
          </p:nvPr>
        </p:nvSpPr>
        <p:spPr>
          <a:xfrm>
            <a:off x="838200" y="635636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1" type="ftr"/>
          </p:nvPr>
        </p:nvSpPr>
        <p:spPr>
          <a:xfrm>
            <a:off x="4038600" y="635636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2" type="sldNum"/>
          </p:nvPr>
        </p:nvSpPr>
        <p:spPr>
          <a:xfrm>
            <a:off x="8610600" y="635636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/>
          <p:nvPr>
            <p:ph type="title"/>
          </p:nvPr>
        </p:nvSpPr>
        <p:spPr>
          <a:xfrm rot="5400000">
            <a:off x="7133433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idx="1" type="body"/>
          </p:nvPr>
        </p:nvSpPr>
        <p:spPr>
          <a:xfrm rot="5400000">
            <a:off x="1799434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10" type="dt"/>
          </p:nvPr>
        </p:nvSpPr>
        <p:spPr>
          <a:xfrm>
            <a:off x="838200" y="635636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11" type="ftr"/>
          </p:nvPr>
        </p:nvSpPr>
        <p:spPr>
          <a:xfrm>
            <a:off x="4038600" y="635636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12" type="sldNum"/>
          </p:nvPr>
        </p:nvSpPr>
        <p:spPr>
          <a:xfrm>
            <a:off x="8610600" y="635636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6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6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6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hyperlink" Target="https://www.w3schools.com/css/css_overflow.asp" TargetMode="External"/><Relationship Id="rId8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>
            <p:ph type="ctrTitle"/>
          </p:nvPr>
        </p:nvSpPr>
        <p:spPr>
          <a:xfrm>
            <a:off x="914400" y="2082844"/>
            <a:ext cx="10363200" cy="18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pt-BR"/>
              <a:t>Web Design</a:t>
            </a:r>
            <a:endParaRPr/>
          </a:p>
        </p:txBody>
      </p:sp>
      <p:sp>
        <p:nvSpPr>
          <p:cNvPr id="104" name="Google Shape;104;p14"/>
          <p:cNvSpPr txBox="1"/>
          <p:nvPr>
            <p:ph idx="1" type="subTitle"/>
          </p:nvPr>
        </p:nvSpPr>
        <p:spPr>
          <a:xfrm>
            <a:off x="914400" y="4180995"/>
            <a:ext cx="10363200" cy="456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pt-BR"/>
              <a:t>Posicionamento e Flutuação</a:t>
            </a:r>
            <a:endParaRPr/>
          </a:p>
        </p:txBody>
      </p:sp>
      <p:sp>
        <p:nvSpPr>
          <p:cNvPr id="105" name="Google Shape;105;p14"/>
          <p:cNvSpPr txBox="1"/>
          <p:nvPr>
            <p:ph idx="2" type="body"/>
          </p:nvPr>
        </p:nvSpPr>
        <p:spPr>
          <a:xfrm>
            <a:off x="914400" y="4924425"/>
            <a:ext cx="10363200" cy="1293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pt-BR"/>
              <a:t>Irlan Arley Targino Moreira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pt-BR"/>
              <a:t>irlan.moreira@escolar.ifrn.edu.br</a:t>
            </a:r>
            <a:endParaRPr/>
          </a:p>
        </p:txBody>
      </p:sp>
      <p:sp>
        <p:nvSpPr>
          <p:cNvPr id="106" name="Google Shape;106;p14"/>
          <p:cNvSpPr txBox="1"/>
          <p:nvPr>
            <p:ph idx="10" type="dt"/>
          </p:nvPr>
        </p:nvSpPr>
        <p:spPr>
          <a:xfrm>
            <a:off x="4724400" y="641955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29/11/2020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>
            <p:ph type="title"/>
          </p:nvPr>
        </p:nvSpPr>
        <p:spPr>
          <a:xfrm>
            <a:off x="331432" y="186445"/>
            <a:ext cx="11465456" cy="956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pt-BR"/>
              <a:t>Roteiro</a:t>
            </a:r>
            <a:endParaRPr/>
          </a:p>
        </p:txBody>
      </p:sp>
      <p:sp>
        <p:nvSpPr>
          <p:cNvPr id="112" name="Google Shape;112;p15"/>
          <p:cNvSpPr txBox="1"/>
          <p:nvPr>
            <p:ph idx="1" type="body"/>
          </p:nvPr>
        </p:nvSpPr>
        <p:spPr>
          <a:xfrm>
            <a:off x="331442" y="1411556"/>
            <a:ext cx="11465455" cy="4765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589" lvl="0" marL="228589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Posicionamento;</a:t>
            </a:r>
            <a:endParaRPr/>
          </a:p>
          <a:p>
            <a:pPr indent="-228589" lvl="0" marL="228589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Propriedade  overflow;</a:t>
            </a:r>
            <a:endParaRPr/>
          </a:p>
          <a:p>
            <a:pPr indent="-228589" lvl="0" marL="228589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Propriedade float;</a:t>
            </a:r>
            <a:endParaRPr/>
          </a:p>
          <a:p>
            <a:pPr indent="-228589" lvl="0" marL="228589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Propriedade clear.</a:t>
            </a:r>
            <a:endParaRPr/>
          </a:p>
          <a:p>
            <a:pPr indent="-25389" lvl="0" marL="228589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13" name="Google Shape;113;p15"/>
          <p:cNvSpPr txBox="1"/>
          <p:nvPr>
            <p:ph idx="10" type="dt"/>
          </p:nvPr>
        </p:nvSpPr>
        <p:spPr>
          <a:xfrm>
            <a:off x="236089" y="6490125"/>
            <a:ext cx="18360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29/11/2020</a:t>
            </a:r>
            <a:endParaRPr/>
          </a:p>
        </p:txBody>
      </p:sp>
      <p:sp>
        <p:nvSpPr>
          <p:cNvPr id="114" name="Google Shape;114;p15"/>
          <p:cNvSpPr txBox="1"/>
          <p:nvPr>
            <p:ph idx="11" type="ftr"/>
          </p:nvPr>
        </p:nvSpPr>
        <p:spPr>
          <a:xfrm>
            <a:off x="2308193" y="6492888"/>
            <a:ext cx="85580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Web Design: posicionamento e flutuação</a:t>
            </a:r>
            <a:endParaRPr/>
          </a:p>
        </p:txBody>
      </p:sp>
      <p:sp>
        <p:nvSpPr>
          <p:cNvPr id="115" name="Google Shape;115;p15"/>
          <p:cNvSpPr txBox="1"/>
          <p:nvPr>
            <p:ph idx="12" type="sldNum"/>
          </p:nvPr>
        </p:nvSpPr>
        <p:spPr>
          <a:xfrm>
            <a:off x="11057914" y="6490124"/>
            <a:ext cx="94245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>
            <p:ph type="title"/>
          </p:nvPr>
        </p:nvSpPr>
        <p:spPr>
          <a:xfrm>
            <a:off x="331432" y="186445"/>
            <a:ext cx="11465456" cy="956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pt-BR"/>
              <a:t>Posicionamento</a:t>
            </a:r>
            <a:endParaRPr/>
          </a:p>
        </p:txBody>
      </p:sp>
      <p:sp>
        <p:nvSpPr>
          <p:cNvPr id="121" name="Google Shape;121;p16"/>
          <p:cNvSpPr txBox="1"/>
          <p:nvPr>
            <p:ph idx="1" type="body"/>
          </p:nvPr>
        </p:nvSpPr>
        <p:spPr>
          <a:xfrm>
            <a:off x="331442" y="1411556"/>
            <a:ext cx="11465455" cy="4765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589" lvl="0" marL="228589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O posicionamento dos elementos HTML podem ser modificados utilizando as propriedades </a:t>
            </a:r>
            <a:r>
              <a:rPr b="1" lang="pt-BR"/>
              <a:t>top, right, left </a:t>
            </a:r>
            <a:r>
              <a:rPr lang="pt-BR"/>
              <a:t>e </a:t>
            </a:r>
            <a:r>
              <a:rPr b="1" lang="pt-BR"/>
              <a:t>bottom</a:t>
            </a:r>
            <a:r>
              <a:rPr lang="pt-BR"/>
              <a:t>;</a:t>
            </a:r>
            <a:endParaRPr/>
          </a:p>
          <a:p>
            <a:pPr indent="-25389" lvl="0" marL="228589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228589" lvl="0" marL="228589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Por padrão, todos os elementos HTML são posicionados de forma estática, o que não permite que seu posicionamento seja alterado.</a:t>
            </a:r>
            <a:endParaRPr/>
          </a:p>
          <a:p>
            <a:pPr indent="-25389" lvl="0" marL="228589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25389" lvl="0" marL="228589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25389" lvl="0" marL="228589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22" name="Google Shape;122;p16"/>
          <p:cNvSpPr txBox="1"/>
          <p:nvPr>
            <p:ph idx="10" type="dt"/>
          </p:nvPr>
        </p:nvSpPr>
        <p:spPr>
          <a:xfrm>
            <a:off x="236089" y="6490125"/>
            <a:ext cx="18360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29/11/2020</a:t>
            </a:r>
            <a:endParaRPr/>
          </a:p>
        </p:txBody>
      </p:sp>
      <p:sp>
        <p:nvSpPr>
          <p:cNvPr id="123" name="Google Shape;123;p16"/>
          <p:cNvSpPr txBox="1"/>
          <p:nvPr>
            <p:ph idx="11" type="ftr"/>
          </p:nvPr>
        </p:nvSpPr>
        <p:spPr>
          <a:xfrm>
            <a:off x="2308193" y="6492888"/>
            <a:ext cx="85580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Web Design: posicionamento e flutuação</a:t>
            </a:r>
            <a:endParaRPr/>
          </a:p>
        </p:txBody>
      </p:sp>
      <p:sp>
        <p:nvSpPr>
          <p:cNvPr id="124" name="Google Shape;124;p16"/>
          <p:cNvSpPr txBox="1"/>
          <p:nvPr>
            <p:ph idx="12" type="sldNum"/>
          </p:nvPr>
        </p:nvSpPr>
        <p:spPr>
          <a:xfrm>
            <a:off x="11057914" y="6490124"/>
            <a:ext cx="94245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>
            <p:ph type="title"/>
          </p:nvPr>
        </p:nvSpPr>
        <p:spPr>
          <a:xfrm>
            <a:off x="331432" y="186445"/>
            <a:ext cx="11465456" cy="956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pt-BR"/>
              <a:t>Posicionamento</a:t>
            </a:r>
            <a:endParaRPr/>
          </a:p>
        </p:txBody>
      </p:sp>
      <p:sp>
        <p:nvSpPr>
          <p:cNvPr id="130" name="Google Shape;130;p17"/>
          <p:cNvSpPr txBox="1"/>
          <p:nvPr>
            <p:ph idx="1" type="body"/>
          </p:nvPr>
        </p:nvSpPr>
        <p:spPr>
          <a:xfrm>
            <a:off x="331442" y="1411556"/>
            <a:ext cx="11465455" cy="4765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589" lvl="0" marL="228589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Para que o posicionamento possa ser alterado, a propriedade </a:t>
            </a:r>
            <a:r>
              <a:rPr b="1" lang="pt-BR"/>
              <a:t>position</a:t>
            </a:r>
            <a:r>
              <a:rPr lang="pt-BR"/>
              <a:t> deverá receber um dos seguintes valores:</a:t>
            </a:r>
            <a:endParaRPr/>
          </a:p>
          <a:p>
            <a:pPr indent="-228589" lvl="1" marL="685766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Relative:</a:t>
            </a:r>
            <a:endParaRPr/>
          </a:p>
          <a:p>
            <a:pPr indent="-228589" lvl="1" marL="685766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Absolute;</a:t>
            </a:r>
            <a:endParaRPr/>
          </a:p>
          <a:p>
            <a:pPr indent="-228589" lvl="1" marL="685766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Fixed;</a:t>
            </a:r>
            <a:endParaRPr/>
          </a:p>
          <a:p>
            <a:pPr indent="-228589" lvl="1" marL="685766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Sticky.</a:t>
            </a:r>
            <a:endParaRPr/>
          </a:p>
          <a:p>
            <a:pPr indent="-25389" lvl="0" marL="228589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 txBox="1"/>
          <p:nvPr>
            <p:ph idx="10" type="dt"/>
          </p:nvPr>
        </p:nvSpPr>
        <p:spPr>
          <a:xfrm>
            <a:off x="236089" y="6490125"/>
            <a:ext cx="18360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29/11/2020</a:t>
            </a:r>
            <a:endParaRPr/>
          </a:p>
        </p:txBody>
      </p:sp>
      <p:sp>
        <p:nvSpPr>
          <p:cNvPr id="132" name="Google Shape;132;p17"/>
          <p:cNvSpPr txBox="1"/>
          <p:nvPr>
            <p:ph idx="11" type="ftr"/>
          </p:nvPr>
        </p:nvSpPr>
        <p:spPr>
          <a:xfrm>
            <a:off x="2308193" y="6492888"/>
            <a:ext cx="85580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Web Design: posicionamento e flutuação</a:t>
            </a:r>
            <a:endParaRPr/>
          </a:p>
        </p:txBody>
      </p:sp>
      <p:sp>
        <p:nvSpPr>
          <p:cNvPr id="133" name="Google Shape;133;p17"/>
          <p:cNvSpPr txBox="1"/>
          <p:nvPr>
            <p:ph idx="12" type="sldNum"/>
          </p:nvPr>
        </p:nvSpPr>
        <p:spPr>
          <a:xfrm>
            <a:off x="11057914" y="6490124"/>
            <a:ext cx="94245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>
            <p:ph type="title"/>
          </p:nvPr>
        </p:nvSpPr>
        <p:spPr>
          <a:xfrm>
            <a:off x="331432" y="186445"/>
            <a:ext cx="11465456" cy="956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pt-BR"/>
              <a:t>Posicionamento</a:t>
            </a:r>
            <a:endParaRPr/>
          </a:p>
        </p:txBody>
      </p:sp>
      <p:sp>
        <p:nvSpPr>
          <p:cNvPr id="139" name="Google Shape;139;p18"/>
          <p:cNvSpPr txBox="1"/>
          <p:nvPr>
            <p:ph idx="1" type="body"/>
          </p:nvPr>
        </p:nvSpPr>
        <p:spPr>
          <a:xfrm>
            <a:off x="331442" y="1411556"/>
            <a:ext cx="11465455" cy="4765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589" lvl="0" marL="228589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Relative:</a:t>
            </a:r>
            <a:endParaRPr/>
          </a:p>
          <a:p>
            <a:pPr indent="-228589" lvl="1" marL="685766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Elementos posicionados relativamente levam em consideração sua posição inicial e podem ser deslocados para qualquer uma das direções:</a:t>
            </a:r>
            <a:endParaRPr/>
          </a:p>
          <a:p>
            <a:pPr indent="-50789" lvl="1" marL="685766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5389" lvl="0" marL="228589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 txBox="1"/>
          <p:nvPr>
            <p:ph idx="10" type="dt"/>
          </p:nvPr>
        </p:nvSpPr>
        <p:spPr>
          <a:xfrm>
            <a:off x="236089" y="6490125"/>
            <a:ext cx="18360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29/11/2020</a:t>
            </a:r>
            <a:endParaRPr/>
          </a:p>
        </p:txBody>
      </p:sp>
      <p:sp>
        <p:nvSpPr>
          <p:cNvPr id="141" name="Google Shape;141;p18"/>
          <p:cNvSpPr txBox="1"/>
          <p:nvPr>
            <p:ph idx="11" type="ftr"/>
          </p:nvPr>
        </p:nvSpPr>
        <p:spPr>
          <a:xfrm>
            <a:off x="2308193" y="6492888"/>
            <a:ext cx="85580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Web Design: posicionamento e flutuação</a:t>
            </a:r>
            <a:endParaRPr/>
          </a:p>
        </p:txBody>
      </p:sp>
      <p:sp>
        <p:nvSpPr>
          <p:cNvPr id="142" name="Google Shape;142;p18"/>
          <p:cNvSpPr txBox="1"/>
          <p:nvPr>
            <p:ph idx="12" type="sldNum"/>
          </p:nvPr>
        </p:nvSpPr>
        <p:spPr>
          <a:xfrm>
            <a:off x="11057914" y="6490124"/>
            <a:ext cx="94245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205" y="3138799"/>
            <a:ext cx="4495800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3138799"/>
            <a:ext cx="571500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13142" y="3989658"/>
            <a:ext cx="3895725" cy="24860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46" name="Google Shape;146;p18"/>
          <p:cNvCxnSpPr/>
          <p:nvPr/>
        </p:nvCxnSpPr>
        <p:spPr>
          <a:xfrm>
            <a:off x="9856086" y="3978954"/>
            <a:ext cx="0" cy="89284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7" name="Google Shape;147;p18"/>
          <p:cNvCxnSpPr/>
          <p:nvPr/>
        </p:nvCxnSpPr>
        <p:spPr>
          <a:xfrm flipH="1" rot="10800000">
            <a:off x="8025906" y="5232670"/>
            <a:ext cx="854871" cy="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8" name="Google Shape;148;p18"/>
          <p:cNvSpPr txBox="1"/>
          <p:nvPr/>
        </p:nvSpPr>
        <p:spPr>
          <a:xfrm>
            <a:off x="9856086" y="4255141"/>
            <a:ext cx="914400" cy="449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30px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7966377" y="4803030"/>
            <a:ext cx="914400" cy="449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30px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type="title"/>
          </p:nvPr>
        </p:nvSpPr>
        <p:spPr>
          <a:xfrm>
            <a:off x="331432" y="186445"/>
            <a:ext cx="11465456" cy="956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pt-BR"/>
              <a:t>Posicionamento</a:t>
            </a:r>
            <a:endParaRPr/>
          </a:p>
        </p:txBody>
      </p:sp>
      <p:sp>
        <p:nvSpPr>
          <p:cNvPr id="155" name="Google Shape;155;p19"/>
          <p:cNvSpPr txBox="1"/>
          <p:nvPr>
            <p:ph idx="1" type="body"/>
          </p:nvPr>
        </p:nvSpPr>
        <p:spPr>
          <a:xfrm>
            <a:off x="331442" y="1411556"/>
            <a:ext cx="11465455" cy="4765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589" lvl="0" marL="228589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Absolute:</a:t>
            </a:r>
            <a:endParaRPr/>
          </a:p>
          <a:p>
            <a:pPr indent="-228589" lvl="1" marL="685766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Elementos posicionados de forma absoluta levam em consideração o posicionamento do elemento posicionado relativamente mais próximo:</a:t>
            </a:r>
            <a:endParaRPr/>
          </a:p>
          <a:p>
            <a:pPr indent="-25389" lvl="0" marL="228589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56" name="Google Shape;156;p19"/>
          <p:cNvSpPr txBox="1"/>
          <p:nvPr>
            <p:ph idx="10" type="dt"/>
          </p:nvPr>
        </p:nvSpPr>
        <p:spPr>
          <a:xfrm>
            <a:off x="236089" y="6490125"/>
            <a:ext cx="18360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29/11/2020</a:t>
            </a:r>
            <a:endParaRPr/>
          </a:p>
        </p:txBody>
      </p:sp>
      <p:sp>
        <p:nvSpPr>
          <p:cNvPr id="157" name="Google Shape;157;p19"/>
          <p:cNvSpPr txBox="1"/>
          <p:nvPr>
            <p:ph idx="11" type="ftr"/>
          </p:nvPr>
        </p:nvSpPr>
        <p:spPr>
          <a:xfrm>
            <a:off x="2308193" y="6492888"/>
            <a:ext cx="85580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Web Design: posicionamento e flutuação</a:t>
            </a:r>
            <a:endParaRPr/>
          </a:p>
        </p:txBody>
      </p:sp>
      <p:sp>
        <p:nvSpPr>
          <p:cNvPr id="158" name="Google Shape;158;p19"/>
          <p:cNvSpPr txBox="1"/>
          <p:nvPr>
            <p:ph idx="12" type="sldNum"/>
          </p:nvPr>
        </p:nvSpPr>
        <p:spPr>
          <a:xfrm>
            <a:off x="11057914" y="6490124"/>
            <a:ext cx="94245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59" name="Google Shape;1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905" y="2874501"/>
            <a:ext cx="3648075" cy="360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9968" y="2971800"/>
            <a:ext cx="46863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59706" y="4191048"/>
            <a:ext cx="4406562" cy="2299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 txBox="1"/>
          <p:nvPr>
            <p:ph type="title"/>
          </p:nvPr>
        </p:nvSpPr>
        <p:spPr>
          <a:xfrm>
            <a:off x="331432" y="186445"/>
            <a:ext cx="11465456" cy="956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pt-BR"/>
              <a:t>Posicionamento</a:t>
            </a:r>
            <a:endParaRPr/>
          </a:p>
        </p:txBody>
      </p:sp>
      <p:sp>
        <p:nvSpPr>
          <p:cNvPr id="167" name="Google Shape;167;p20"/>
          <p:cNvSpPr txBox="1"/>
          <p:nvPr>
            <p:ph idx="1" type="body"/>
          </p:nvPr>
        </p:nvSpPr>
        <p:spPr>
          <a:xfrm>
            <a:off x="331442" y="1411556"/>
            <a:ext cx="11465455" cy="4765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589" lvl="0" marL="228589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Fixed:</a:t>
            </a:r>
            <a:endParaRPr/>
          </a:p>
          <a:p>
            <a:pPr indent="-228589" lvl="1" marL="685766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Elementos posicionados de forma fixa permanecem sempre no ponto definido da janela de visualização:</a:t>
            </a:r>
            <a:endParaRPr/>
          </a:p>
          <a:p>
            <a:pPr indent="-25389" lvl="0" marL="228589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68" name="Google Shape;168;p20"/>
          <p:cNvSpPr txBox="1"/>
          <p:nvPr>
            <p:ph idx="10" type="dt"/>
          </p:nvPr>
        </p:nvSpPr>
        <p:spPr>
          <a:xfrm>
            <a:off x="236089" y="6490125"/>
            <a:ext cx="18360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29/11/2020</a:t>
            </a:r>
            <a:endParaRPr/>
          </a:p>
        </p:txBody>
      </p:sp>
      <p:sp>
        <p:nvSpPr>
          <p:cNvPr id="169" name="Google Shape;169;p20"/>
          <p:cNvSpPr txBox="1"/>
          <p:nvPr>
            <p:ph idx="11" type="ftr"/>
          </p:nvPr>
        </p:nvSpPr>
        <p:spPr>
          <a:xfrm>
            <a:off x="2308193" y="6492888"/>
            <a:ext cx="85580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Web Design: posicionamento e flutuação</a:t>
            </a:r>
            <a:endParaRPr/>
          </a:p>
        </p:txBody>
      </p:sp>
      <p:sp>
        <p:nvSpPr>
          <p:cNvPr id="170" name="Google Shape;170;p20"/>
          <p:cNvSpPr txBox="1"/>
          <p:nvPr>
            <p:ph idx="12" type="sldNum"/>
          </p:nvPr>
        </p:nvSpPr>
        <p:spPr>
          <a:xfrm>
            <a:off x="11057914" y="6490124"/>
            <a:ext cx="94245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71" name="Google Shape;1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432" y="3082041"/>
            <a:ext cx="3990975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327" y="3082517"/>
            <a:ext cx="6865815" cy="3094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type="title"/>
          </p:nvPr>
        </p:nvSpPr>
        <p:spPr>
          <a:xfrm>
            <a:off x="331432" y="186445"/>
            <a:ext cx="11465456" cy="956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pt-BR"/>
              <a:t>Posicionamento</a:t>
            </a:r>
            <a:endParaRPr/>
          </a:p>
        </p:txBody>
      </p:sp>
      <p:sp>
        <p:nvSpPr>
          <p:cNvPr id="178" name="Google Shape;178;p21"/>
          <p:cNvSpPr txBox="1"/>
          <p:nvPr>
            <p:ph idx="1" type="body"/>
          </p:nvPr>
        </p:nvSpPr>
        <p:spPr>
          <a:xfrm>
            <a:off x="331442" y="1411556"/>
            <a:ext cx="11465455" cy="4765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589" lvl="0" marL="228589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Sticky:</a:t>
            </a:r>
            <a:endParaRPr/>
          </a:p>
          <a:p>
            <a:pPr indent="-228589" lvl="1" marL="685766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Elementos posicionados como stickys  se baseiam na rolagem do usuário, alternando entre relativo e fixo:</a:t>
            </a:r>
            <a:endParaRPr/>
          </a:p>
          <a:p>
            <a:pPr indent="-25389" lvl="0" marL="228589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79" name="Google Shape;179;p21"/>
          <p:cNvSpPr txBox="1"/>
          <p:nvPr>
            <p:ph idx="10" type="dt"/>
          </p:nvPr>
        </p:nvSpPr>
        <p:spPr>
          <a:xfrm>
            <a:off x="236089" y="6490125"/>
            <a:ext cx="18360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29/11/2020</a:t>
            </a:r>
            <a:endParaRPr/>
          </a:p>
        </p:txBody>
      </p:sp>
      <p:sp>
        <p:nvSpPr>
          <p:cNvPr id="180" name="Google Shape;180;p21"/>
          <p:cNvSpPr txBox="1"/>
          <p:nvPr>
            <p:ph idx="11" type="ftr"/>
          </p:nvPr>
        </p:nvSpPr>
        <p:spPr>
          <a:xfrm>
            <a:off x="2308193" y="6492888"/>
            <a:ext cx="85580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Web Design: posicionamento e flutuação</a:t>
            </a:r>
            <a:endParaRPr/>
          </a:p>
        </p:txBody>
      </p:sp>
      <p:sp>
        <p:nvSpPr>
          <p:cNvPr id="181" name="Google Shape;181;p21"/>
          <p:cNvSpPr txBox="1"/>
          <p:nvPr>
            <p:ph idx="12" type="sldNum"/>
          </p:nvPr>
        </p:nvSpPr>
        <p:spPr>
          <a:xfrm>
            <a:off x="11057914" y="6490124"/>
            <a:ext cx="94245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82" name="Google Shape;18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9596" y="2530891"/>
            <a:ext cx="4130776" cy="3959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8684" y="2933214"/>
            <a:ext cx="4823942" cy="3398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331432" y="186445"/>
            <a:ext cx="11465456" cy="956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pt-BR"/>
              <a:t>Propriedade Overflow</a:t>
            </a:r>
            <a:endParaRPr/>
          </a:p>
        </p:txBody>
      </p:sp>
      <p:sp>
        <p:nvSpPr>
          <p:cNvPr id="189" name="Google Shape;189;p22"/>
          <p:cNvSpPr txBox="1"/>
          <p:nvPr>
            <p:ph idx="1" type="body"/>
          </p:nvPr>
        </p:nvSpPr>
        <p:spPr>
          <a:xfrm>
            <a:off x="331442" y="1411556"/>
            <a:ext cx="11465455" cy="4765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589" lvl="0" marL="228589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A propriedade </a:t>
            </a:r>
            <a:r>
              <a:rPr b="1" lang="pt-BR"/>
              <a:t>overflow</a:t>
            </a:r>
            <a:r>
              <a:rPr lang="pt-BR"/>
              <a:t> define como um elemento maior que seu container será exibido;</a:t>
            </a:r>
            <a:endParaRPr/>
          </a:p>
          <a:p>
            <a:pPr indent="-228589" lvl="0" marL="228589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Esta propriedade pode assumir os seguintes valores:</a:t>
            </a:r>
            <a:endParaRPr/>
          </a:p>
          <a:p>
            <a:pPr indent="-228589" lvl="1" marL="685766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Visible;</a:t>
            </a:r>
            <a:endParaRPr/>
          </a:p>
          <a:p>
            <a:pPr indent="-228589" lvl="1" marL="685766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Hidden;</a:t>
            </a:r>
            <a:endParaRPr/>
          </a:p>
          <a:p>
            <a:pPr indent="-228589" lvl="1" marL="685766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Scroll;</a:t>
            </a:r>
            <a:endParaRPr/>
          </a:p>
          <a:p>
            <a:pPr indent="-228589" lvl="1" marL="685766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Auto.</a:t>
            </a:r>
            <a:endParaRPr/>
          </a:p>
        </p:txBody>
      </p:sp>
      <p:sp>
        <p:nvSpPr>
          <p:cNvPr id="190" name="Google Shape;190;p22"/>
          <p:cNvSpPr txBox="1"/>
          <p:nvPr>
            <p:ph idx="10" type="dt"/>
          </p:nvPr>
        </p:nvSpPr>
        <p:spPr>
          <a:xfrm>
            <a:off x="236089" y="6490125"/>
            <a:ext cx="18360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29/11/2020</a:t>
            </a:r>
            <a:endParaRPr/>
          </a:p>
        </p:txBody>
      </p:sp>
      <p:sp>
        <p:nvSpPr>
          <p:cNvPr id="191" name="Google Shape;191;p22"/>
          <p:cNvSpPr txBox="1"/>
          <p:nvPr>
            <p:ph idx="11" type="ftr"/>
          </p:nvPr>
        </p:nvSpPr>
        <p:spPr>
          <a:xfrm>
            <a:off x="2308193" y="6492888"/>
            <a:ext cx="85580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Web Design: posicionamento e flutuação</a:t>
            </a:r>
            <a:endParaRPr/>
          </a:p>
        </p:txBody>
      </p:sp>
      <p:sp>
        <p:nvSpPr>
          <p:cNvPr id="192" name="Google Shape;192;p22"/>
          <p:cNvSpPr txBox="1"/>
          <p:nvPr>
            <p:ph idx="12" type="sldNum"/>
          </p:nvPr>
        </p:nvSpPr>
        <p:spPr>
          <a:xfrm>
            <a:off x="11057914" y="6490124"/>
            <a:ext cx="94245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/>
          <p:nvPr>
            <p:ph type="title"/>
          </p:nvPr>
        </p:nvSpPr>
        <p:spPr>
          <a:xfrm>
            <a:off x="331432" y="186445"/>
            <a:ext cx="11465456" cy="956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pt-BR"/>
              <a:t>Propriedade Overflow</a:t>
            </a:r>
            <a:endParaRPr/>
          </a:p>
        </p:txBody>
      </p:sp>
      <p:sp>
        <p:nvSpPr>
          <p:cNvPr id="198" name="Google Shape;198;p23"/>
          <p:cNvSpPr txBox="1"/>
          <p:nvPr>
            <p:ph idx="1" type="body"/>
          </p:nvPr>
        </p:nvSpPr>
        <p:spPr>
          <a:xfrm>
            <a:off x="331442" y="1411556"/>
            <a:ext cx="11465455" cy="4765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589" lvl="0" marL="228589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Visible: padrão. O elemento será exibido por completo, mesmo se for maior que seu container;</a:t>
            </a:r>
            <a:endParaRPr/>
          </a:p>
          <a:p>
            <a:pPr indent="-40629" lvl="0" marL="228589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589" lvl="0" marL="228589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Hidden: a parte do elemento que estourar o container será ocultado;</a:t>
            </a:r>
            <a:endParaRPr/>
          </a:p>
          <a:p>
            <a:pPr indent="-40629" lvl="0" marL="228589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589" lvl="0" marL="228589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Scroll: barras de rolagem vertical e horizontal são adicionadas ao container;</a:t>
            </a:r>
            <a:endParaRPr/>
          </a:p>
          <a:p>
            <a:pPr indent="-40629" lvl="0" marL="228589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589" lvl="0" marL="228589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Auto: barras de rolagem são adicionadas apenas quando necessário.</a:t>
            </a:r>
            <a:endParaRPr/>
          </a:p>
        </p:txBody>
      </p:sp>
      <p:sp>
        <p:nvSpPr>
          <p:cNvPr id="199" name="Google Shape;199;p23"/>
          <p:cNvSpPr txBox="1"/>
          <p:nvPr>
            <p:ph idx="10" type="dt"/>
          </p:nvPr>
        </p:nvSpPr>
        <p:spPr>
          <a:xfrm>
            <a:off x="236089" y="6490125"/>
            <a:ext cx="18360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29/11/2020</a:t>
            </a:r>
            <a:endParaRPr/>
          </a:p>
        </p:txBody>
      </p:sp>
      <p:sp>
        <p:nvSpPr>
          <p:cNvPr id="200" name="Google Shape;200;p23"/>
          <p:cNvSpPr txBox="1"/>
          <p:nvPr>
            <p:ph idx="11" type="ftr"/>
          </p:nvPr>
        </p:nvSpPr>
        <p:spPr>
          <a:xfrm>
            <a:off x="2308193" y="6492888"/>
            <a:ext cx="85580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Web Design: posicionamento e flutuação</a:t>
            </a:r>
            <a:endParaRPr/>
          </a:p>
        </p:txBody>
      </p:sp>
      <p:sp>
        <p:nvSpPr>
          <p:cNvPr id="201" name="Google Shape;201;p23"/>
          <p:cNvSpPr txBox="1"/>
          <p:nvPr>
            <p:ph idx="12" type="sldNum"/>
          </p:nvPr>
        </p:nvSpPr>
        <p:spPr>
          <a:xfrm>
            <a:off x="11057914" y="6490124"/>
            <a:ext cx="94245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/>
          <p:nvPr>
            <p:ph type="title"/>
          </p:nvPr>
        </p:nvSpPr>
        <p:spPr>
          <a:xfrm>
            <a:off x="331432" y="186445"/>
            <a:ext cx="11465456" cy="956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pt-BR"/>
              <a:t>Propriedade Overflow</a:t>
            </a:r>
            <a:endParaRPr/>
          </a:p>
        </p:txBody>
      </p:sp>
      <p:sp>
        <p:nvSpPr>
          <p:cNvPr id="207" name="Google Shape;207;p24"/>
          <p:cNvSpPr txBox="1"/>
          <p:nvPr>
            <p:ph idx="1" type="body"/>
          </p:nvPr>
        </p:nvSpPr>
        <p:spPr>
          <a:xfrm>
            <a:off x="331442" y="1411556"/>
            <a:ext cx="11465455" cy="4765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589" lvl="0" marL="228589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Exemplo:</a:t>
            </a:r>
            <a:endParaRPr/>
          </a:p>
        </p:txBody>
      </p:sp>
      <p:sp>
        <p:nvSpPr>
          <p:cNvPr id="208" name="Google Shape;208;p24"/>
          <p:cNvSpPr txBox="1"/>
          <p:nvPr>
            <p:ph idx="10" type="dt"/>
          </p:nvPr>
        </p:nvSpPr>
        <p:spPr>
          <a:xfrm>
            <a:off x="236089" y="6490125"/>
            <a:ext cx="18360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29/11/2020</a:t>
            </a:r>
            <a:endParaRPr/>
          </a:p>
        </p:txBody>
      </p:sp>
      <p:sp>
        <p:nvSpPr>
          <p:cNvPr id="209" name="Google Shape;209;p24"/>
          <p:cNvSpPr txBox="1"/>
          <p:nvPr>
            <p:ph idx="11" type="ftr"/>
          </p:nvPr>
        </p:nvSpPr>
        <p:spPr>
          <a:xfrm>
            <a:off x="2308193" y="6492888"/>
            <a:ext cx="85580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Web Design: posicionamento e flutuação</a:t>
            </a:r>
            <a:endParaRPr/>
          </a:p>
        </p:txBody>
      </p:sp>
      <p:sp>
        <p:nvSpPr>
          <p:cNvPr id="210" name="Google Shape;210;p24"/>
          <p:cNvSpPr txBox="1"/>
          <p:nvPr>
            <p:ph idx="12" type="sldNum"/>
          </p:nvPr>
        </p:nvSpPr>
        <p:spPr>
          <a:xfrm>
            <a:off x="11057914" y="6490124"/>
            <a:ext cx="94245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11" name="Google Shape;21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7190" y="1717251"/>
            <a:ext cx="2500781" cy="230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94977" y="1660150"/>
            <a:ext cx="3199439" cy="1697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23287" y="4282977"/>
            <a:ext cx="3000376" cy="1599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94977" y="4315816"/>
            <a:ext cx="3059639" cy="1566418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4"/>
          <p:cNvSpPr txBox="1"/>
          <p:nvPr/>
        </p:nvSpPr>
        <p:spPr>
          <a:xfrm>
            <a:off x="5235371" y="1301413"/>
            <a:ext cx="914400" cy="47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visible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4"/>
          <p:cNvSpPr txBox="1"/>
          <p:nvPr/>
        </p:nvSpPr>
        <p:spPr>
          <a:xfrm>
            <a:off x="5263771" y="3957079"/>
            <a:ext cx="914400" cy="47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scroll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4"/>
          <p:cNvSpPr txBox="1"/>
          <p:nvPr/>
        </p:nvSpPr>
        <p:spPr>
          <a:xfrm>
            <a:off x="10052487" y="1335396"/>
            <a:ext cx="914400" cy="47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hidden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4"/>
          <p:cNvSpPr txBox="1"/>
          <p:nvPr/>
        </p:nvSpPr>
        <p:spPr>
          <a:xfrm>
            <a:off x="10037496" y="3989917"/>
            <a:ext cx="914400" cy="47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4"/>
          <p:cNvSpPr txBox="1"/>
          <p:nvPr/>
        </p:nvSpPr>
        <p:spPr>
          <a:xfrm>
            <a:off x="236089" y="6176969"/>
            <a:ext cx="11465455" cy="268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Fonte: </a:t>
            </a:r>
            <a:r>
              <a:rPr b="0" i="0" lang="pt-BR" sz="1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https://www.w3schools.com/css/css_overflow.asp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7259" y="3221795"/>
            <a:ext cx="3785786" cy="186081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"/>
          <p:cNvSpPr txBox="1"/>
          <p:nvPr>
            <p:ph type="title"/>
          </p:nvPr>
        </p:nvSpPr>
        <p:spPr>
          <a:xfrm>
            <a:off x="331432" y="186445"/>
            <a:ext cx="11465456" cy="956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pt-BR"/>
              <a:t>Propriedade Float</a:t>
            </a:r>
            <a:endParaRPr/>
          </a:p>
        </p:txBody>
      </p:sp>
      <p:sp>
        <p:nvSpPr>
          <p:cNvPr id="226" name="Google Shape;226;p25"/>
          <p:cNvSpPr txBox="1"/>
          <p:nvPr>
            <p:ph idx="1" type="body"/>
          </p:nvPr>
        </p:nvSpPr>
        <p:spPr>
          <a:xfrm>
            <a:off x="331442" y="1411556"/>
            <a:ext cx="11465455" cy="4765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589" lvl="0" marL="228589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A propriedade </a:t>
            </a:r>
            <a:r>
              <a:rPr b="1" lang="pt-BR"/>
              <a:t>float</a:t>
            </a:r>
            <a:r>
              <a:rPr lang="pt-BR"/>
              <a:t> permite que elementos flutuem a direita ou a esquerda de um outro elemento;</a:t>
            </a:r>
            <a:endParaRPr/>
          </a:p>
          <a:p>
            <a:pPr indent="-228589" lvl="0" marL="228589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Pode assumir os seguintes valores:</a:t>
            </a:r>
            <a:endParaRPr/>
          </a:p>
          <a:p>
            <a:pPr indent="-228589" lvl="1" marL="685766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Left;</a:t>
            </a:r>
            <a:endParaRPr/>
          </a:p>
          <a:p>
            <a:pPr indent="-228589" lvl="1" marL="685766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Right;</a:t>
            </a:r>
            <a:endParaRPr/>
          </a:p>
          <a:p>
            <a:pPr indent="-228589" lvl="1" marL="685766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None.</a:t>
            </a:r>
            <a:endParaRPr/>
          </a:p>
        </p:txBody>
      </p:sp>
      <p:sp>
        <p:nvSpPr>
          <p:cNvPr id="227" name="Google Shape;227;p25"/>
          <p:cNvSpPr txBox="1"/>
          <p:nvPr>
            <p:ph idx="10" type="dt"/>
          </p:nvPr>
        </p:nvSpPr>
        <p:spPr>
          <a:xfrm>
            <a:off x="236089" y="6490125"/>
            <a:ext cx="18360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29/11/2020</a:t>
            </a:r>
            <a:endParaRPr/>
          </a:p>
        </p:txBody>
      </p:sp>
      <p:sp>
        <p:nvSpPr>
          <p:cNvPr id="228" name="Google Shape;228;p25"/>
          <p:cNvSpPr txBox="1"/>
          <p:nvPr>
            <p:ph idx="11" type="ftr"/>
          </p:nvPr>
        </p:nvSpPr>
        <p:spPr>
          <a:xfrm>
            <a:off x="2308193" y="6492888"/>
            <a:ext cx="85580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Web Design: posicionamento e flutuação</a:t>
            </a:r>
            <a:endParaRPr/>
          </a:p>
        </p:txBody>
      </p:sp>
      <p:sp>
        <p:nvSpPr>
          <p:cNvPr id="229" name="Google Shape;229;p25"/>
          <p:cNvSpPr txBox="1"/>
          <p:nvPr>
            <p:ph idx="12" type="sldNum"/>
          </p:nvPr>
        </p:nvSpPr>
        <p:spPr>
          <a:xfrm>
            <a:off x="11057914" y="6490124"/>
            <a:ext cx="94245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6"/>
          <p:cNvSpPr txBox="1"/>
          <p:nvPr>
            <p:ph type="title"/>
          </p:nvPr>
        </p:nvSpPr>
        <p:spPr>
          <a:xfrm>
            <a:off x="331432" y="186445"/>
            <a:ext cx="11465456" cy="956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pt-BR"/>
              <a:t>Propriedade Float</a:t>
            </a:r>
            <a:endParaRPr/>
          </a:p>
        </p:txBody>
      </p:sp>
      <p:sp>
        <p:nvSpPr>
          <p:cNvPr id="235" name="Google Shape;235;p26"/>
          <p:cNvSpPr txBox="1"/>
          <p:nvPr>
            <p:ph idx="1" type="body"/>
          </p:nvPr>
        </p:nvSpPr>
        <p:spPr>
          <a:xfrm>
            <a:off x="331442" y="1411556"/>
            <a:ext cx="11465455" cy="4765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589" lvl="0" marL="228589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Left – o elemento deve flutuar do lado esquerdo:</a:t>
            </a:r>
            <a:endParaRPr/>
          </a:p>
        </p:txBody>
      </p:sp>
      <p:sp>
        <p:nvSpPr>
          <p:cNvPr id="236" name="Google Shape;236;p26"/>
          <p:cNvSpPr txBox="1"/>
          <p:nvPr>
            <p:ph idx="10" type="dt"/>
          </p:nvPr>
        </p:nvSpPr>
        <p:spPr>
          <a:xfrm>
            <a:off x="236089" y="6490125"/>
            <a:ext cx="18360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29/11/2020</a:t>
            </a:r>
            <a:endParaRPr/>
          </a:p>
        </p:txBody>
      </p:sp>
      <p:sp>
        <p:nvSpPr>
          <p:cNvPr id="237" name="Google Shape;237;p26"/>
          <p:cNvSpPr txBox="1"/>
          <p:nvPr>
            <p:ph idx="11" type="ftr"/>
          </p:nvPr>
        </p:nvSpPr>
        <p:spPr>
          <a:xfrm>
            <a:off x="2308193" y="6492888"/>
            <a:ext cx="85580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Web Design: posicionamento e flutuação</a:t>
            </a:r>
            <a:endParaRPr/>
          </a:p>
        </p:txBody>
      </p:sp>
      <p:sp>
        <p:nvSpPr>
          <p:cNvPr id="238" name="Google Shape;238;p26"/>
          <p:cNvSpPr txBox="1"/>
          <p:nvPr>
            <p:ph idx="12" type="sldNum"/>
          </p:nvPr>
        </p:nvSpPr>
        <p:spPr>
          <a:xfrm>
            <a:off x="11057914" y="6490124"/>
            <a:ext cx="94245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39" name="Google Shape;239;p26"/>
          <p:cNvPicPr preferRelativeResize="0"/>
          <p:nvPr/>
        </p:nvPicPr>
        <p:blipFill rotWithShape="1">
          <a:blip r:embed="rId3">
            <a:alphaModFix/>
          </a:blip>
          <a:srcRect b="0" l="0" r="1774" t="0"/>
          <a:stretch/>
        </p:blipFill>
        <p:spPr>
          <a:xfrm>
            <a:off x="5333941" y="2566994"/>
            <a:ext cx="6343397" cy="36099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0" name="Google Shape;24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103" y="2566994"/>
            <a:ext cx="3969464" cy="16602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"/>
          <p:cNvSpPr txBox="1"/>
          <p:nvPr>
            <p:ph type="title"/>
          </p:nvPr>
        </p:nvSpPr>
        <p:spPr>
          <a:xfrm>
            <a:off x="331432" y="186445"/>
            <a:ext cx="11465456" cy="956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pt-BR"/>
              <a:t>Propriedade Float</a:t>
            </a:r>
            <a:endParaRPr/>
          </a:p>
        </p:txBody>
      </p:sp>
      <p:sp>
        <p:nvSpPr>
          <p:cNvPr id="246" name="Google Shape;246;p27"/>
          <p:cNvSpPr txBox="1"/>
          <p:nvPr>
            <p:ph idx="1" type="body"/>
          </p:nvPr>
        </p:nvSpPr>
        <p:spPr>
          <a:xfrm>
            <a:off x="331442" y="1411556"/>
            <a:ext cx="11465455" cy="4765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589" lvl="0" marL="228589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Right – o elemento deve flutuar do lado direito:</a:t>
            </a:r>
            <a:endParaRPr/>
          </a:p>
        </p:txBody>
      </p:sp>
      <p:sp>
        <p:nvSpPr>
          <p:cNvPr id="247" name="Google Shape;247;p27"/>
          <p:cNvSpPr txBox="1"/>
          <p:nvPr>
            <p:ph idx="10" type="dt"/>
          </p:nvPr>
        </p:nvSpPr>
        <p:spPr>
          <a:xfrm>
            <a:off x="236089" y="6490125"/>
            <a:ext cx="18360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29/11/2020</a:t>
            </a:r>
            <a:endParaRPr/>
          </a:p>
        </p:txBody>
      </p:sp>
      <p:sp>
        <p:nvSpPr>
          <p:cNvPr id="248" name="Google Shape;248;p27"/>
          <p:cNvSpPr txBox="1"/>
          <p:nvPr>
            <p:ph idx="11" type="ftr"/>
          </p:nvPr>
        </p:nvSpPr>
        <p:spPr>
          <a:xfrm>
            <a:off x="2308193" y="6492888"/>
            <a:ext cx="85580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Web Design: posicionamento e flutuação</a:t>
            </a:r>
            <a:endParaRPr/>
          </a:p>
        </p:txBody>
      </p:sp>
      <p:sp>
        <p:nvSpPr>
          <p:cNvPr id="249" name="Google Shape;249;p27"/>
          <p:cNvSpPr txBox="1"/>
          <p:nvPr>
            <p:ph idx="12" type="sldNum"/>
          </p:nvPr>
        </p:nvSpPr>
        <p:spPr>
          <a:xfrm>
            <a:off x="11057914" y="6490124"/>
            <a:ext cx="94245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50" name="Google Shape;25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6806" y="2977499"/>
            <a:ext cx="7030837" cy="286866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1" name="Google Shape;25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089" y="2977499"/>
            <a:ext cx="4125992" cy="152814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 txBox="1"/>
          <p:nvPr>
            <p:ph type="title"/>
          </p:nvPr>
        </p:nvSpPr>
        <p:spPr>
          <a:xfrm>
            <a:off x="331432" y="186445"/>
            <a:ext cx="11465456" cy="956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pt-BR"/>
              <a:t>Propriedade Float</a:t>
            </a:r>
            <a:endParaRPr/>
          </a:p>
        </p:txBody>
      </p:sp>
      <p:sp>
        <p:nvSpPr>
          <p:cNvPr id="257" name="Google Shape;257;p28"/>
          <p:cNvSpPr txBox="1"/>
          <p:nvPr>
            <p:ph idx="1" type="body"/>
          </p:nvPr>
        </p:nvSpPr>
        <p:spPr>
          <a:xfrm>
            <a:off x="331442" y="1411556"/>
            <a:ext cx="11465455" cy="4765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589" lvl="0" marL="228589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None – Valor padrão. Os elementos seguem o fluxo normal:</a:t>
            </a:r>
            <a:endParaRPr/>
          </a:p>
        </p:txBody>
      </p:sp>
      <p:sp>
        <p:nvSpPr>
          <p:cNvPr id="258" name="Google Shape;258;p28"/>
          <p:cNvSpPr txBox="1"/>
          <p:nvPr>
            <p:ph idx="10" type="dt"/>
          </p:nvPr>
        </p:nvSpPr>
        <p:spPr>
          <a:xfrm>
            <a:off x="236089" y="6490125"/>
            <a:ext cx="18360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29/11/2020</a:t>
            </a:r>
            <a:endParaRPr/>
          </a:p>
        </p:txBody>
      </p:sp>
      <p:sp>
        <p:nvSpPr>
          <p:cNvPr id="259" name="Google Shape;259;p28"/>
          <p:cNvSpPr txBox="1"/>
          <p:nvPr>
            <p:ph idx="11" type="ftr"/>
          </p:nvPr>
        </p:nvSpPr>
        <p:spPr>
          <a:xfrm>
            <a:off x="2308193" y="6492888"/>
            <a:ext cx="85580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Web Design: posicionamento e flutuação</a:t>
            </a:r>
            <a:endParaRPr/>
          </a:p>
        </p:txBody>
      </p:sp>
      <p:sp>
        <p:nvSpPr>
          <p:cNvPr id="260" name="Google Shape;260;p28"/>
          <p:cNvSpPr txBox="1"/>
          <p:nvPr>
            <p:ph idx="12" type="sldNum"/>
          </p:nvPr>
        </p:nvSpPr>
        <p:spPr>
          <a:xfrm>
            <a:off x="11057914" y="6490124"/>
            <a:ext cx="94245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61" name="Google Shape;26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8963" y="1914379"/>
            <a:ext cx="6257925" cy="449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2" name="Google Shape;26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887" y="2904025"/>
            <a:ext cx="3943631" cy="182489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9"/>
          <p:cNvSpPr txBox="1"/>
          <p:nvPr>
            <p:ph type="title"/>
          </p:nvPr>
        </p:nvSpPr>
        <p:spPr>
          <a:xfrm>
            <a:off x="331432" y="186445"/>
            <a:ext cx="11465456" cy="956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pt-BR"/>
              <a:t>Propriedade Clear</a:t>
            </a:r>
            <a:endParaRPr/>
          </a:p>
        </p:txBody>
      </p:sp>
      <p:sp>
        <p:nvSpPr>
          <p:cNvPr id="268" name="Google Shape;268;p29"/>
          <p:cNvSpPr txBox="1"/>
          <p:nvPr>
            <p:ph idx="1" type="body"/>
          </p:nvPr>
        </p:nvSpPr>
        <p:spPr>
          <a:xfrm>
            <a:off x="331442" y="1411556"/>
            <a:ext cx="11465455" cy="4765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589" lvl="0" marL="228589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Esta propriedade impede que um elemento flutue;</a:t>
            </a:r>
            <a:endParaRPr/>
          </a:p>
          <a:p>
            <a:pPr indent="-228589" lvl="0" marL="228589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Principais valores:</a:t>
            </a:r>
            <a:endParaRPr/>
          </a:p>
          <a:p>
            <a:pPr indent="-228589" lvl="1" marL="685766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None – permite a flutuação;</a:t>
            </a:r>
            <a:endParaRPr/>
          </a:p>
          <a:p>
            <a:pPr indent="-228589" lvl="1" marL="685766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Left – impede a flutuação à esquerda;</a:t>
            </a:r>
            <a:endParaRPr/>
          </a:p>
          <a:p>
            <a:pPr indent="-228589" lvl="1" marL="685766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Right: impede a flutuação a direita;</a:t>
            </a:r>
            <a:endParaRPr/>
          </a:p>
          <a:p>
            <a:pPr indent="-228589" lvl="1" marL="685766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Both: impede a flutuação em ambos os lados.</a:t>
            </a:r>
            <a:endParaRPr/>
          </a:p>
        </p:txBody>
      </p:sp>
      <p:sp>
        <p:nvSpPr>
          <p:cNvPr id="269" name="Google Shape;269;p29"/>
          <p:cNvSpPr txBox="1"/>
          <p:nvPr>
            <p:ph idx="10" type="dt"/>
          </p:nvPr>
        </p:nvSpPr>
        <p:spPr>
          <a:xfrm>
            <a:off x="236089" y="6490125"/>
            <a:ext cx="18360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29/11/2020</a:t>
            </a:r>
            <a:endParaRPr/>
          </a:p>
        </p:txBody>
      </p:sp>
      <p:sp>
        <p:nvSpPr>
          <p:cNvPr id="270" name="Google Shape;270;p29"/>
          <p:cNvSpPr txBox="1"/>
          <p:nvPr>
            <p:ph idx="11" type="ftr"/>
          </p:nvPr>
        </p:nvSpPr>
        <p:spPr>
          <a:xfrm>
            <a:off x="2308193" y="6492888"/>
            <a:ext cx="85580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Web Design: posicionamento e flutuação</a:t>
            </a:r>
            <a:endParaRPr/>
          </a:p>
        </p:txBody>
      </p:sp>
      <p:sp>
        <p:nvSpPr>
          <p:cNvPr id="271" name="Google Shape;271;p29"/>
          <p:cNvSpPr txBox="1"/>
          <p:nvPr>
            <p:ph idx="12" type="sldNum"/>
          </p:nvPr>
        </p:nvSpPr>
        <p:spPr>
          <a:xfrm>
            <a:off x="11057914" y="6490124"/>
            <a:ext cx="94245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FRN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